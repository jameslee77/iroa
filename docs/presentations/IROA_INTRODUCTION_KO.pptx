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ffb6c01ea146f1" /><Relationship Type="http://schemas.openxmlformats.org/officeDocument/2006/relationships/extended-properties" Target="/docProps/app.xml" Id="R43172585f3bf4020" /><Relationship Type="http://schemas.openxmlformats.org/officeDocument/2006/relationships/officeDocument" Target="/ppt/presentation.xml" Id="Rf2fd0fc85e1a45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cda5cb37da440d"/>
  </p:sldMasterIdLst>
  <p:notesMasterIdLst>
    <p:notesMasterId xmlns:r="http://schemas.openxmlformats.org/officeDocument/2006/relationships" r:id="R1d994d7ce3264527"/>
  </p:notesMasterIdLst>
  <p:sldIdLst>
    <p:sldId xmlns:r="http://schemas.openxmlformats.org/officeDocument/2006/relationships" id="256" r:id="R0bab5681056c4e48"/>
    <p:sldId xmlns:r="http://schemas.openxmlformats.org/officeDocument/2006/relationships" id="257" r:id="R63ff237d07574fd2"/>
    <p:sldId xmlns:r="http://schemas.openxmlformats.org/officeDocument/2006/relationships" id="258" r:id="R60966c58eda549c7"/>
    <p:sldId xmlns:r="http://schemas.openxmlformats.org/officeDocument/2006/relationships" id="259" r:id="R32deabe02c1b47d2"/>
    <p:sldId xmlns:r="http://schemas.openxmlformats.org/officeDocument/2006/relationships" id="260" r:id="Ref3b908371634de1"/>
    <p:sldId xmlns:r="http://schemas.openxmlformats.org/officeDocument/2006/relationships" id="261" r:id="Rc1435705edba46a6"/>
    <p:sldId xmlns:r="http://schemas.openxmlformats.org/officeDocument/2006/relationships" id="262" r:id="R077996ef475443f0"/>
    <p:sldId xmlns:r="http://schemas.openxmlformats.org/officeDocument/2006/relationships" id="263" r:id="R57efaaaaec354136"/>
    <p:sldId xmlns:r="http://schemas.openxmlformats.org/officeDocument/2006/relationships" id="264" r:id="Rc05a2539063449eb"/>
    <p:sldId xmlns:r="http://schemas.openxmlformats.org/officeDocument/2006/relationships" id="265" r:id="R8773082aadde470d"/>
    <p:sldId xmlns:r="http://schemas.openxmlformats.org/officeDocument/2006/relationships" id="266" r:id="R88325b6e8b644573"/>
    <p:sldId xmlns:r="http://schemas.openxmlformats.org/officeDocument/2006/relationships" id="267" r:id="Rdd575192943f4a22"/>
    <p:sldId xmlns:r="http://schemas.openxmlformats.org/officeDocument/2006/relationships" id="268" r:id="Re393a11b4a27474f"/>
    <p:sldId xmlns:r="http://schemas.openxmlformats.org/officeDocument/2006/relationships" id="269" r:id="Ra1df5153810d4a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31a79c1f7f4f4d" /><Relationship Type="http://schemas.openxmlformats.org/officeDocument/2006/relationships/slideMaster" Target="/ppt/slideMasters/slideMaster1.xml" Id="R8dcda5cb37da440d" /><Relationship Type="http://schemas.openxmlformats.org/officeDocument/2006/relationships/notesMaster" Target="/ppt/notesMasters/notesMaster1.xml" Id="R1d994d7ce3264527" /><Relationship Type="http://schemas.openxmlformats.org/officeDocument/2006/relationships/presProps" Target="/ppt/presProps.xml" Id="Re13925e145ff4545" /><Relationship Type="http://schemas.openxmlformats.org/officeDocument/2006/relationships/tableStyles" Target="/ppt/tableStyles.xml" Id="Rec76620cee134f14" /><Relationship Type="http://schemas.openxmlformats.org/officeDocument/2006/relationships/slide" Target="/ppt/slides/slide1.xml" Id="R0bab5681056c4e48" /><Relationship Type="http://schemas.openxmlformats.org/officeDocument/2006/relationships/slide" Target="/ppt/slides/slide2.xml" Id="R63ff237d07574fd2" /><Relationship Type="http://schemas.openxmlformats.org/officeDocument/2006/relationships/slide" Target="/ppt/slides/slide3.xml" Id="R60966c58eda549c7" /><Relationship Type="http://schemas.openxmlformats.org/officeDocument/2006/relationships/slide" Target="/ppt/slides/slide4.xml" Id="R32deabe02c1b47d2" /><Relationship Type="http://schemas.openxmlformats.org/officeDocument/2006/relationships/slide" Target="/ppt/slides/slide5.xml" Id="Ref3b908371634de1" /><Relationship Type="http://schemas.openxmlformats.org/officeDocument/2006/relationships/slide" Target="/ppt/slides/slide6.xml" Id="Rc1435705edba46a6" /><Relationship Type="http://schemas.openxmlformats.org/officeDocument/2006/relationships/slide" Target="/ppt/slides/slide7.xml" Id="R077996ef475443f0" /><Relationship Type="http://schemas.openxmlformats.org/officeDocument/2006/relationships/slide" Target="/ppt/slides/slide8.xml" Id="R57efaaaaec354136" /><Relationship Type="http://schemas.openxmlformats.org/officeDocument/2006/relationships/slide" Target="/ppt/slides/slide9.xml" Id="Rc05a2539063449eb" /><Relationship Type="http://schemas.openxmlformats.org/officeDocument/2006/relationships/slide" Target="/ppt/slides/slide10.xml" Id="R8773082aadde470d" /><Relationship Type="http://schemas.openxmlformats.org/officeDocument/2006/relationships/slide" Target="/ppt/slides/slide11.xml" Id="R88325b6e8b644573" /><Relationship Type="http://schemas.openxmlformats.org/officeDocument/2006/relationships/slide" Target="/ppt/slides/slide12.xml" Id="Rdd575192943f4a22" /><Relationship Type="http://schemas.openxmlformats.org/officeDocument/2006/relationships/slide" Target="/ppt/slides/slide13.xml" Id="Re393a11b4a27474f" /><Relationship Type="http://schemas.openxmlformats.org/officeDocument/2006/relationships/slide" Target="/ppt/slides/slide14.xml" Id="Ra1df5153810d4a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5643d1ef6240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db6f192146455a" /><Relationship Type="http://schemas.openxmlformats.org/officeDocument/2006/relationships/notesMaster" Target="/ppt/notesMasters/notesMaster1.xml" Id="Rf1172139d67149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e95b4656fd438a" /><Relationship Type="http://schemas.openxmlformats.org/officeDocument/2006/relationships/notesMaster" Target="/ppt/notesMasters/notesMaster1.xml" Id="R90c7a4b6ca3440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66e20b15aa45e5" /><Relationship Type="http://schemas.openxmlformats.org/officeDocument/2006/relationships/notesMaster" Target="/ppt/notesMasters/notesMaster1.xml" Id="R56476ff8c6084a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434da3185345f3" /><Relationship Type="http://schemas.openxmlformats.org/officeDocument/2006/relationships/notesMaster" Target="/ppt/notesMasters/notesMaster1.xml" Id="R59df5889bf3b4f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31cbf1b09e448d" /><Relationship Type="http://schemas.openxmlformats.org/officeDocument/2006/relationships/notesMaster" Target="/ppt/notesMasters/notesMaster1.xml" Id="R294f274b645843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6a5089e600479c" /><Relationship Type="http://schemas.openxmlformats.org/officeDocument/2006/relationships/notesMaster" Target="/ppt/notesMasters/notesMaster1.xml" Id="R9b5e2dbac78548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0decd4922045a3" /><Relationship Type="http://schemas.openxmlformats.org/officeDocument/2006/relationships/notesMaster" Target="/ppt/notesMasters/notesMaster1.xml" Id="Rb23009017a0b4c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d4a4baf69c4795" /><Relationship Type="http://schemas.openxmlformats.org/officeDocument/2006/relationships/notesMaster" Target="/ppt/notesMasters/notesMaster1.xml" Id="R437ef92a039145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946357ad134cfa" /><Relationship Type="http://schemas.openxmlformats.org/officeDocument/2006/relationships/notesMaster" Target="/ppt/notesMasters/notesMaster1.xml" Id="R96ed90b52a7a4f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eb8a298709430e" /><Relationship Type="http://schemas.openxmlformats.org/officeDocument/2006/relationships/notesMaster" Target="/ppt/notesMasters/notesMaster1.xml" Id="R13fcf2890d6c4b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1d0ea198c949db" /><Relationship Type="http://schemas.openxmlformats.org/officeDocument/2006/relationships/notesMaster" Target="/ppt/notesMasters/notesMaster1.xml" Id="Rd48b6b3dd2e445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921eba70494212" /><Relationship Type="http://schemas.openxmlformats.org/officeDocument/2006/relationships/notesMaster" Target="/ppt/notesMasters/notesMaster1.xml" Id="R5df62b1041b540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997cc42bb54666" /><Relationship Type="http://schemas.openxmlformats.org/officeDocument/2006/relationships/notesMaster" Target="/ppt/notesMasters/notesMaster1.xml" Id="R08078b800bf540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48046a89d64e78" /><Relationship Type="http://schemas.openxmlformats.org/officeDocument/2006/relationships/notesMaster" Target="/ppt/notesMasters/notesMaster1.xml" Id="R031a6602bff24e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표지, 1.1 미션, 1.4 제품 약속</a:t>
            </a:r>
          </a:p>
          <a:p xmlns:a="http://schemas.openxmlformats.org/drawingml/2006/main">
            <a:r>
              <a:t>- Photo: Pexels 6248760 by Gary Barnes — https://www.pexels.com/photo/cheerful-multiracial-couple-drinking-coffee-in-cafe-6248760/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3.1 디지털 접근 격차, 3.2 현재 접근성 솔루션의 한계</a:t>
            </a:r>
          </a:p>
          <a:p xmlns:a="http://schemas.openxmlformats.org/drawingml/2006/main">
            <a:r>
              <a:t>- Photo: Pexels 6646818 by RDNE Stock project — https://www.pexels.com/photo/a-woman-wearing-volunteer-shirt-sitting-beside-elderly-man-holding-tablet-computer-6646818/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2.0 하나의 요청, 4 서비스·제품 체계</a:t>
            </a:r>
          </a:p>
          <a:p xmlns:a="http://schemas.openxmlformats.org/drawingml/2006/main">
            <a:r>
              <a:t>- Photo: Pexels 8899538 by SHVETS production — https://www.pexels.com/photo/a-man-wearing-smartwatch-8899538/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2.1 재활병원 예약과 이동, 13 병원·건강·착용형 기기 연계</a:t>
            </a:r>
          </a:p>
          <a:p xmlns:a="http://schemas.openxmlformats.org/drawingml/2006/main">
            <a:r>
              <a:t>- Photo: Pexels 8376171 by Tima Miroshnichenko — https://www.pexels.com/photo/high-angle-shot-of-a-person-making-a-zoom-call-to-a-doctor-8376171/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2.2 키오스크에서 주문과 결제, 9 AI 키오스크</a:t>
            </a:r>
          </a:p>
          <a:p xmlns:a="http://schemas.openxmlformats.org/drawingml/2006/main">
            <a:r>
              <a:t>- Photo: Pexels 4064023 by Marcus Aurelius — https://www.pexels.com/photo/businesswoman-paying-using-smartphone-4064023/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4 서비스·제품 체계, 10 중앙 서비스와 보안 실행 공간의 연결 구조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1.4 제품 약속, 2.0 요청 생명주기, 5 안전한 실행 원칙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8 보안 실행 공간, 10.5 데이터 등급, 12 개인정보 보호와 안전</a:t>
            </a:r>
          </a:p>
          <a:p xmlns:a="http://schemas.openxmlformats.org/drawingml/2006/main">
            <a:r>
              <a:t>- Photo: Pexels 1181335 by Christina Morillo — https://www.pexels.com/photo/software-engineer-looking-at-an-ipad-1181335/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2.3 단계적 안부 확인, 4.3 사람 도움 네트워크, 4.4 반려 친구</a:t>
            </a:r>
          </a:p>
          <a:p xmlns:a="http://schemas.openxmlformats.org/drawingml/2006/main">
            <a:r>
              <a:t>- Photo: Pexels 8295026 by Pavel Danilyuk — https://www.pexels.com/photo/a-man-holding-a-toy-8295026/ ; Pexels 6647066 by RDNE Stock project — https://www.pexels.com/photo/man-in-black-and-white-plaid-dress-shirt-sitting-beside-woman-in-black-and-white-plaid-6647066/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5.4 설명 가능성과 취소 가능성, 12 개인정보 보호와 안전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3.3 주요 고객과 참여자, 17.2 이해관계자 가치, 17.4 사회성과 지표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15 보상 경제, 16 토큰 이코노미, 17.1 수익원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18 단계별 실행 계획, 21 공개 전 검증과 다음 결정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3.5 초기 진입시장, 21 공개 전 검증과 다음 결정, 22 결론</a:t>
            </a:r>
          </a:p>
          <a:p xmlns:a="http://schemas.openxmlformats.org/drawingml/2006/main">
            <a:r>
              <a:t>- Photo: Pexels 6248760 by Gary Barnes — https://www.pexels.com/photo/cheerful-multiracial-couple-drinking-coffee-in-cafe-6248760/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1ead66c454a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5aa5085acb496e" /><Relationship Type="http://schemas.openxmlformats.org/officeDocument/2006/relationships/slideLayout" Target="/ppt/slideLayouts/slideLayout1.xml" Id="R30fa9b4f370a44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fa9b4f370a44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0002b769b48fd" /><Relationship Type="http://schemas.openxmlformats.org/officeDocument/2006/relationships/image" Target="/ppt/media/image.jpeg" Id="Re26de632e7f84606" /><Relationship Type="http://schemas.openxmlformats.org/officeDocument/2006/relationships/image" Target="/ppt/media/image.png" Id="R9942f8c3e372470b" /><Relationship Type="http://schemas.openxmlformats.org/officeDocument/2006/relationships/image" Target="/ppt/media/image.svg" Id="R692f0fe5d7a64fa7" /><Relationship Type="http://schemas.openxmlformats.org/officeDocument/2006/relationships/notesSlide" Target="/ppt/notesSlides/notesSlide1.xml" Id="Rf94f3c5c70334b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3abef95c7482c" /><Relationship Type="http://schemas.openxmlformats.org/officeDocument/2006/relationships/image" Target="/ppt/media/image2.jpeg" Id="R249b6ac74d954738" /><Relationship Type="http://schemas.openxmlformats.org/officeDocument/2006/relationships/notesSlide" Target="/ppt/notesSlides/notesSlide2.xml" Id="R76490970f95c41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20c30b86e411a" /><Relationship Type="http://schemas.openxmlformats.org/officeDocument/2006/relationships/image" Target="/ppt/media/image3.jpeg" Id="R57990734f65c425f" /><Relationship Type="http://schemas.openxmlformats.org/officeDocument/2006/relationships/notesSlide" Target="/ppt/notesSlides/notesSlide3.xml" Id="Ra5d746e4252441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73150a3184b72" /><Relationship Type="http://schemas.openxmlformats.org/officeDocument/2006/relationships/image" Target="/ppt/media/image4.jpeg" Id="R5439bf65d98f40dd" /><Relationship Type="http://schemas.openxmlformats.org/officeDocument/2006/relationships/notesSlide" Target="/ppt/notesSlides/notesSlide4.xml" Id="R6cbc1a5cb16d45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09081afe746cb" /><Relationship Type="http://schemas.openxmlformats.org/officeDocument/2006/relationships/image" Target="/ppt/media/image5.jpeg" Id="Rac5951e7a59d4498" /><Relationship Type="http://schemas.openxmlformats.org/officeDocument/2006/relationships/notesSlide" Target="/ppt/notesSlides/notesSlide5.xml" Id="R1bc626425dc445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6bd5a38d54243" /><Relationship Type="http://schemas.openxmlformats.org/officeDocument/2006/relationships/image" Target="/ppt/media/image2.png" Id="Rb10cfcf4322f4166" /><Relationship Type="http://schemas.openxmlformats.org/officeDocument/2006/relationships/image" Target="/ppt/media/image2.svg" Id="Rbf35037a0cb74eae" /><Relationship Type="http://schemas.openxmlformats.org/officeDocument/2006/relationships/notesSlide" Target="/ppt/notesSlides/notesSlide6.xml" Id="R8c688b5c88b64a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16a3b4d0d4cf5" /><Relationship Type="http://schemas.openxmlformats.org/officeDocument/2006/relationships/notesSlide" Target="/ppt/notesSlides/notesSlide7.xml" Id="R56b0f154420d4e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21725108a4ade" /><Relationship Type="http://schemas.openxmlformats.org/officeDocument/2006/relationships/image" Target="/ppt/media/image6.jpeg" Id="R3f1238dddd4d4c0f" /><Relationship Type="http://schemas.openxmlformats.org/officeDocument/2006/relationships/notesSlide" Target="/ppt/notesSlides/notesSlide8.xml" Id="R85f0ca49624e41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e725aabbb49bd" /><Relationship Type="http://schemas.openxmlformats.org/officeDocument/2006/relationships/image" Target="/ppt/media/image7.jpeg" Id="R3f31e1ca51ce4b7f" /><Relationship Type="http://schemas.openxmlformats.org/officeDocument/2006/relationships/image" Target="/ppt/media/image8.jpeg" Id="Rf1b2b69c5dd34b5a" /><Relationship Type="http://schemas.openxmlformats.org/officeDocument/2006/relationships/notesSlide" Target="/ppt/notesSlides/notesSlide9.xml" Id="R6296717cb1e14d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2061fa4d14383" /><Relationship Type="http://schemas.openxmlformats.org/officeDocument/2006/relationships/notesSlide" Target="/ppt/notesSlides/notesSlide10.xml" Id="R08108fac85bc4e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0dfac78184316" /><Relationship Type="http://schemas.openxmlformats.org/officeDocument/2006/relationships/image" Target="/ppt/media/image3.png" Id="Rc65e408161084c98" /><Relationship Type="http://schemas.openxmlformats.org/officeDocument/2006/relationships/image" Target="/ppt/media/image3.svg" Id="R858327cdcd3f4427" /><Relationship Type="http://schemas.openxmlformats.org/officeDocument/2006/relationships/notesSlide" Target="/ppt/notesSlides/notesSlide11.xml" Id="Rf730c497e38743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92d2c71284d6d" /><Relationship Type="http://schemas.openxmlformats.org/officeDocument/2006/relationships/notesSlide" Target="/ppt/notesSlides/notesSlide12.xml" Id="R6888a14deefa41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1c49563a64189" /><Relationship Type="http://schemas.openxmlformats.org/officeDocument/2006/relationships/notesSlide" Target="/ppt/notesSlides/notesSlide13.xml" Id="R30380f19d68c4d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0eda52ceb4160" /><Relationship Type="http://schemas.openxmlformats.org/officeDocument/2006/relationships/image" Target="/ppt/media/image9.jpeg" Id="Rac676aca0fc04ece" /><Relationship Type="http://schemas.openxmlformats.org/officeDocument/2006/relationships/image" Target="/ppt/media/image4.png" Id="Ra3a352df52ea489a" /><Relationship Type="http://schemas.openxmlformats.org/officeDocument/2006/relationships/image" Target="/ppt/media/image4.svg" Id="R1252a6a375244e7e" /><Relationship Type="http://schemas.openxmlformats.org/officeDocument/2006/relationships/notesSlide" Target="/ppt/notesSlides/notesSlide14.xml" Id="Rbeb57af6cf3045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de632e7f84606"/>
          <a:srcRect xmlns:a="http://schemas.openxmlformats.org/drawingml/2006/main" l="18527" t="0" r="185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6C33F-0E6D-4AB6-8388-4535D914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D4552-1C6F-4C42-A5E1-F0209BD2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57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2f8c3e372470b">
            <a:extLst>
              <a:ext uri="{96DAC541-7B7A-43D3-8B79-37D633B846F1}">
                <asvg:svgBlip xmlns:asvg="http://schemas.microsoft.com/office/drawing/2016/SVG/main" r:embed="R692f0fe5d7a64f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609600"/>
            <a:ext cx="196215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2550790-0435-4B5D-8D15-3F2889CA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5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일상을 이롭게.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5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필요한 일을 끝까지.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6F06666-E90A-498E-9E88-A9E2C091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38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노인과 장애인의 생활 요청을 끝까지 돕는 AI 지원망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C51B2-9E8D-4F23-9B30-398E4306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IROA.AI 소개</a:t>
            </a:r>
          </a:p>
        </p:txBody>
      </p:sp>
    </p:spTree>
    <p:extLst>
      <p:ext uri="{BB962C8B-B14F-4D97-AF65-F5344CB8AC3E}">
        <p14:creationId xmlns:p14="http://schemas.microsoft.com/office/powerpoint/2010/main" val="1571126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b6ac74d954738"/>
          <a:srcRect xmlns:a="http://schemas.openxmlformats.org/drawingml/2006/main" l="24677" t="0" r="246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2197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F98CD-B751-492A-8F94-8C4665BB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B964EB-ABE1-4890-87CA-B6DA95EE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04850"/>
            <a:ext cx="5524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7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디지털 서비스가 늘수록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7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일상은 더 복잡해집니다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532DD-2961-447C-B04F-B9F2CF94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정보를 찾은 뒤에도 다시 로그인하고, 선택하고, 결제하고, 결과를 확인해야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375C4-F5F2-4B81-B769-F86A3CFD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4C533-4389-4259-A3B3-7C81BB97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예약과 이동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FD004-1F51-4382-B214-4C8FC23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6FB37-D439-4DB3-8F12-7DCF07EC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주문과 결제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BAB9C-C31E-4278-9737-C8D4A343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5A54E-4AC5-4FC1-A4BD-EDE6BACD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910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복지 신청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D44B9-91B0-4CC7-98BF-2B00621D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1CA01-745A-464C-9950-8BA199EC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병원 이용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7B80188-7012-434D-8CFF-6A9BC5C5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02</a:t>
            </a:r>
          </a:p>
        </p:txBody>
      </p:sp>
    </p:spTree>
    <p:extLst>
      <p:ext uri="{BB962C8B-B14F-4D97-AF65-F5344CB8AC3E}">
        <p14:creationId xmlns:p14="http://schemas.microsoft.com/office/powerpoint/2010/main" val="1460816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92CB8AF3-EFA3-47B5-9B8C-5DE32AA1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하나의 요청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68ED9B-625D-4068-96DC-0B4B007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번 말한 요청이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어디서든 이어집니다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60F6B-F017-4C52-86C6-13AC0B1A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25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사용자는 기기를 배우는 대신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325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원하는 결과를 말하고, 선택하고, 승인합니다.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90734f65c425f"/>
          <a:srcRect xmlns:a="http://schemas.openxmlformats.org/drawingml/2006/main" l="20808" t="0" r="20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647700"/>
            <a:ext cx="4171950" cy="476250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B13D9-7DED-42F1-B623-463C626F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81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C09FB-F16D-4D0C-93D4-0EB02359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0E62E-A8A3-4FE8-99B5-AD2656F6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1A38D-36D6-44C5-8E3E-8A527C6E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54BF7-57E8-4591-A341-CE59EAF8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81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3EED4-2E21-4ED4-9A1A-9D6392A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95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25181-1580-485D-A0B5-44538745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5B6F8-A8FE-41EE-954C-E08120F0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워치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B4FDE-06AD-4FB5-A187-9A1ABECD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81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5A9D-BDD0-4041-A244-BA0406ED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95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EBBA2-9531-448A-A21C-D452D182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291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3C46C-0AAD-4F36-929A-B814685A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57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보안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44D9F-E5CA-4F1A-815A-477EA3C9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81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054AF-8AED-408F-ADCD-FAA020B7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D2B44-582F-4054-BCE1-199E7BB1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D62E8-738C-4920-8D96-54C7601B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57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키오스크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C044F-2548-47A9-BF22-7E8B991D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95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D33ACF-8B20-410A-A188-830F9ED0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291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12E15-9053-4AF5-8F57-8FC33401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57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 도움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E4849-4701-44BF-9064-6DD3F954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기기가 바뀌어도 요청 상태와 책임 경계는 유지됩니다.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FC7E3F8F-4EDF-4AF4-9561-BDF5796E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IROA.AI  ·  03</a:t>
            </a:r>
          </a:p>
        </p:txBody>
      </p:sp>
    </p:spTree>
    <p:extLst>
      <p:ext uri="{BB962C8B-B14F-4D97-AF65-F5344CB8AC3E}">
        <p14:creationId xmlns:p14="http://schemas.microsoft.com/office/powerpoint/2010/main" val="68773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DA3D5A41-A0BC-4679-9337-BBF1C0E4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생활 요청 사례 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01A8FD-CEC4-45D6-8888-4A6E4607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병원 예약부터 이동 준비까지 하나로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790ED-2AAA-4B6E-A6D0-13CA79EA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286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“다음 주 화요일 오전에 재활병원을 예약하고, 휠체어 택시도 준비해줘.”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58964-67C8-44C7-A3AD-EFCBC8A8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가능한 일정과 이동 조건을 함께 확인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비용과 선택지를 쉬운 말로 설명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최종 승인 뒤 예약과 이동을 연속 실행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실패하면 가족·복지사에게 필요한 요약만 인계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9bf65d98f40dd"/>
          <a:srcRect xmlns:a="http://schemas.openxmlformats.org/drawingml/2006/main" l="14373" t="0" r="143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1143000"/>
            <a:ext cx="5010150" cy="468630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685D9-2B75-4BFE-B1D3-4DDBEF80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143000"/>
            <a:ext cx="133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9C2A369-CDF0-4010-A566-40472202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04</a:t>
            </a:r>
          </a:p>
        </p:txBody>
      </p:sp>
    </p:spTree>
    <p:extLst>
      <p:ext uri="{BB962C8B-B14F-4D97-AF65-F5344CB8AC3E}">
        <p14:creationId xmlns:p14="http://schemas.microsoft.com/office/powerpoint/2010/main" val="644066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951e7a59d4498"/>
          <a:srcRect xmlns:a="http://schemas.openxmlformats.org/drawingml/2006/main" l="21674" t="0" r="216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8293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63ED7-DC3D-4628-93C8-C1BECC05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832C20-E454-449D-911B-E1C2F89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742950"/>
            <a:ext cx="495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현장에서는 메뉴 탐색보다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주문 완료가 중요합니다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C9039-A97E-49CA-AB4C-56C2231C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14"/>
              </a:spcAft>
              <a:buNone/>
              <a:def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사용자의 접근성 설정을 임시 적용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4"/>
              </a:spcAft>
              <a:buNone/>
              <a:def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알레르기·가격·선호 조건으로 후보 축소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4"/>
              </a:spcAft>
              <a:buNone/>
              <a:def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상품·수량·금액을 결제 직전 다시 확인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4"/>
              </a:spcAft>
              <a:buNone/>
              <a:def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65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품절·충돌·불안이 생기면 직원 호출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913E2-A976-47AE-8FC4-80DC0D25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340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이용이 끝나면 개인화 정보와 임시 토큰을 삭제합니다.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E894F08-2980-493B-824D-A69D99D7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05</a:t>
            </a:r>
          </a:p>
        </p:txBody>
      </p:sp>
    </p:spTree>
    <p:extLst>
      <p:ext uri="{BB962C8B-B14F-4D97-AF65-F5344CB8AC3E}">
        <p14:creationId xmlns:p14="http://schemas.microsoft.com/office/powerpoint/2010/main" val="349817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5539A185-3747-46A8-95DC-9B248647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 서비스 체계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98CC1B-F886-4C3E-A04C-C891C87A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일곱 개 이용 창구가 하나의 요청 상태를 공유합니다</a:t>
            </a:r>
          </a:p>
        </p:txBody>
      </p:sp>
      <p:sp>
        <p:nvSpPr>
          <p:cNvPr id="3" name="shared-request">
            <a:extLst xmlns:a="http://schemas.openxmlformats.org/drawingml/2006/main">
              <a:ext uri="{FF2B5EF4-FFF2-40B4-BE49-F238E27FC236}">
                <a16:creationId xmlns:a16="http://schemas.microsoft.com/office/drawing/2014/main" id="{2ACF75AF-1117-438F-954A-9A115E9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6225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cfcf4322f4166">
            <a:extLst>
              <a:ext uri="{96DAC541-7B7A-43D3-8B79-37D633B846F1}">
                <asvg:svgBlip xmlns:asvg="http://schemas.microsoft.com/office/drawing/2016/SVG/main" r:embed="Rbf35037a0cb74e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19750" y="30289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D8CBD-4F20-4228-A1DD-410503A2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하나의 요청</a:t>
            </a:r>
          </a:p>
        </p:txBody>
      </p:sp>
      <p:sp>
        <p:nvSpPr>
          <p:cNvPr id="6" name="node-AI 도우미">
            <a:extLst xmlns:a="http://schemas.openxmlformats.org/drawingml/2006/main">
              <a:ext uri="{FF2B5EF4-FFF2-40B4-BE49-F238E27FC236}">
                <a16:creationId xmlns:a16="http://schemas.microsoft.com/office/drawing/2014/main" id="{DB505EDB-E296-4712-86C4-0F740E1B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C09BD-7A4E-4AFC-ACAF-2CE7EEB9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도우미</a:t>
            </a:r>
          </a:p>
        </p:txBody>
      </p:sp>
      <p:sp>
        <p:nvSpPr>
          <p:cNvPr id="8" name="node-Watch">
            <a:extLst xmlns:a="http://schemas.openxmlformats.org/drawingml/2006/main">
              <a:ext uri="{FF2B5EF4-FFF2-40B4-BE49-F238E27FC236}">
                <a16:creationId xmlns:a16="http://schemas.microsoft.com/office/drawing/2014/main" id="{3E288605-EF37-4192-AEA0-83625296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559E5-DF58-4488-A75C-F441C864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431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Watch</a:t>
            </a:r>
          </a:p>
        </p:txBody>
      </p:sp>
      <p:sp>
        <p:nvSpPr>
          <p:cNvPr id="10" name="node-Mobile">
            <a:extLst xmlns:a="http://schemas.openxmlformats.org/drawingml/2006/main">
              <a:ext uri="{FF2B5EF4-FFF2-40B4-BE49-F238E27FC236}">
                <a16:creationId xmlns:a16="http://schemas.microsoft.com/office/drawing/2014/main" id="{F7668173-C41C-4484-AE73-BD5DBA40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271A7-4F84-4B52-A802-E650682E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863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Mobile</a:t>
            </a:r>
          </a:p>
        </p:txBody>
      </p:sp>
      <p:sp>
        <p:nvSpPr>
          <p:cNvPr id="12" name="node-보안 실행 공간">
            <a:extLst xmlns:a="http://schemas.openxmlformats.org/drawingml/2006/main">
              <a:ext uri="{FF2B5EF4-FFF2-40B4-BE49-F238E27FC236}">
                <a16:creationId xmlns:a16="http://schemas.microsoft.com/office/drawing/2014/main" id="{A8F642E8-5878-47BA-A95F-A6A6A8F7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0D9A0-9729-4B87-A25E-67D188A8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보안 실행 공간</a:t>
            </a:r>
          </a:p>
        </p:txBody>
      </p:sp>
      <p:sp>
        <p:nvSpPr>
          <p:cNvPr id="14" name="node-Kiosk">
            <a:extLst xmlns:a="http://schemas.openxmlformats.org/drawingml/2006/main">
              <a:ext uri="{FF2B5EF4-FFF2-40B4-BE49-F238E27FC236}">
                <a16:creationId xmlns:a16="http://schemas.microsoft.com/office/drawing/2014/main" id="{3C724E94-B563-43ED-8EF9-E790B55C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51C8B-2967-476F-84ED-F7B951D0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290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Kiosk</a:t>
            </a:r>
          </a:p>
        </p:txBody>
      </p:sp>
      <p:sp>
        <p:nvSpPr>
          <p:cNvPr id="16" name="node-Companion">
            <a:extLst xmlns:a="http://schemas.openxmlformats.org/drawingml/2006/main">
              <a:ext uri="{FF2B5EF4-FFF2-40B4-BE49-F238E27FC236}">
                <a16:creationId xmlns:a16="http://schemas.microsoft.com/office/drawing/2014/main" id="{AEBBB618-12D5-4A14-928B-9F560AAD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5E206-E388-4A78-AC3E-719EA418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863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Companion</a:t>
            </a:r>
          </a:p>
        </p:txBody>
      </p:sp>
      <p:sp>
        <p:nvSpPr>
          <p:cNvPr id="18" name="node-사람 지원망">
            <a:extLst xmlns:a="http://schemas.openxmlformats.org/drawingml/2006/main">
              <a:ext uri="{FF2B5EF4-FFF2-40B4-BE49-F238E27FC236}">
                <a16:creationId xmlns:a16="http://schemas.microsoft.com/office/drawing/2014/main" id="{2A5E0D9E-8A77-4422-9284-B8F7B3FE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8637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12D87-FFE0-4E1E-985A-7B6FDEE4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4768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 지원망</a:t>
            </a:r>
          </a:p>
        </p:txBody>
      </p: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2476500" y="3590925"/>
            <a:ext cx="266700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667250" y="2305050"/>
            <a:ext cx="755231" cy="73618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3" idx="3"/>
          </p:cNvCxnSpPr>
          <p:nvPr/>
        </p:nvCxnSpPr>
        <p:spPr>
          <a:xfrm xmlns:a="http://schemas.openxmlformats.org/drawingml/2006/main" flipV="1">
            <a:off x="4667250" y="4388269"/>
            <a:ext cx="755231" cy="106003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</a:ln>
        </p:spPr>
      </p:cxnSp>
      <p:cxnSp>
        <p:nvCxnSpPr>
          <p:cNvPr id="50" name=""/>
          <p:cNvCxnSpPr>
            <a:stCxn xmlns:a="http://schemas.openxmlformats.org/drawingml/2006/main" id="12" idx="1"/>
            <a:endCxn xmlns:a="http://schemas.openxmlformats.org/drawingml/2006/main" id="3" idx="7"/>
          </p:cNvCxnSpPr>
          <p:nvPr/>
        </p:nvCxnSpPr>
        <p:spPr>
          <a:xfrm xmlns:a="http://schemas.openxmlformats.org/drawingml/2006/main" flipH="1">
            <a:off x="6769519" y="2305050"/>
            <a:ext cx="755231" cy="73618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</a:ln>
        </p:spPr>
      </p:cxnSp>
      <p:cxnSp>
        <p:nvCxnSpPr>
          <p:cNvPr id="51" name=""/>
          <p:cNvCxnSpPr>
            <a:stCxn xmlns:a="http://schemas.openxmlformats.org/drawingml/2006/main" id="14" idx="1"/>
            <a:endCxn xmlns:a="http://schemas.openxmlformats.org/drawingml/2006/main" id="3" idx="6"/>
          </p:cNvCxnSpPr>
          <p:nvPr/>
        </p:nvCxnSpPr>
        <p:spPr>
          <a:xfrm xmlns:a="http://schemas.openxmlformats.org/drawingml/2006/main" flipH="1">
            <a:off x="7048500" y="3590925"/>
            <a:ext cx="266700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</a:ln>
        </p:spPr>
      </p:cxnSp>
      <p:cxnSp>
        <p:nvCxnSpPr>
          <p:cNvPr id="52" name=""/>
          <p:cNvCxnSpPr>
            <a:stCxn xmlns:a="http://schemas.openxmlformats.org/drawingml/2006/main" id="16" idx="1"/>
            <a:endCxn xmlns:a="http://schemas.openxmlformats.org/drawingml/2006/main" id="3" idx="5"/>
          </p:cNvCxnSpPr>
          <p:nvPr/>
        </p:nvCxnSpPr>
        <p:spPr>
          <a:xfrm xmlns:a="http://schemas.openxmlformats.org/drawingml/2006/main" flipH="1" flipV="1">
            <a:off x="6769519" y="4388269"/>
            <a:ext cx="755231" cy="106003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</a:ln>
        </p:spPr>
      </p:cxnSp>
      <p:cxnSp>
        <p:nvCxnSpPr>
          <p:cNvPr id="53" name=""/>
          <p:cNvCxnSpPr>
            <a:stCxn xmlns:a="http://schemas.openxmlformats.org/drawingml/2006/main" id="18" idx="0"/>
            <a:endCxn xmlns:a="http://schemas.openxmlformats.org/drawingml/2006/main" id="3" idx="4"/>
          </p:cNvCxnSpPr>
          <p:nvPr/>
        </p:nvCxnSpPr>
        <p:spPr>
          <a:xfrm xmlns:a="http://schemas.openxmlformats.org/drawingml/2006/main" flipV="1">
            <a:off x="6096000" y="4667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</a:ln>
        </p:spPr>
      </p:cxn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2831311F-E565-44A0-9824-DC66D88B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06</a:t>
            </a:r>
          </a:p>
        </p:txBody>
      </p:sp>
    </p:spTree>
    <p:extLst>
      <p:ext uri="{BB962C8B-B14F-4D97-AF65-F5344CB8AC3E}">
        <p14:creationId xmlns:p14="http://schemas.microsoft.com/office/powerpoint/2010/main" val="175787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2669039F-C853-47FA-8618-08083B9B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안전한 실행 원칙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55F8FA-07F1-4256-AAC7-1BAE0973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자동으로 움직이되, 사용자를 대신 결정하지 않습니다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D4360-DE1A-428A-A56A-FF3F7540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비용·결제·계약·민감정보 전송은 반드시 이해 가능한 방식으로 다시 확인합니다.</a:t>
            </a:r>
          </a:p>
        </p:txBody>
      </p:sp>
      <p:sp>
        <p:nvSpPr>
          <p:cNvPr id="4" name="life-0">
            <a:extLst xmlns:a="http://schemas.openxmlformats.org/drawingml/2006/main">
              <a:ext uri="{FF2B5EF4-FFF2-40B4-BE49-F238E27FC236}">
                <a16:creationId xmlns:a16="http://schemas.microsoft.com/office/drawing/2014/main" id="{39B68D31-4EA8-474E-BAE2-EDDE1633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314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D3154-3F72-463E-A831-B2BB9FFD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289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요청</a:t>
            </a:r>
          </a:p>
        </p:txBody>
      </p:sp>
      <p:sp>
        <p:nvSpPr>
          <p:cNvPr id="6" name="life-1">
            <a:extLst xmlns:a="http://schemas.openxmlformats.org/drawingml/2006/main">
              <a:ext uri="{FF2B5EF4-FFF2-40B4-BE49-F238E27FC236}">
                <a16:creationId xmlns:a16="http://schemas.microsoft.com/office/drawing/2014/main" id="{21A55623-F5F0-4493-8335-70435231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71800"/>
            <a:ext cx="1314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6C971-47C6-4A4B-B18F-A9BD1D2F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289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계획</a:t>
            </a:r>
          </a:p>
        </p:txBody>
      </p:sp>
      <p:sp>
        <p:nvSpPr>
          <p:cNvPr id="8" name="life-2">
            <a:extLst xmlns:a="http://schemas.openxmlformats.org/drawingml/2006/main">
              <a:ext uri="{FF2B5EF4-FFF2-40B4-BE49-F238E27FC236}">
                <a16:creationId xmlns:a16="http://schemas.microsoft.com/office/drawing/2014/main" id="{A2A39DDB-B079-41E4-8371-55C0EC77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71800"/>
            <a:ext cx="1314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34C80-DBF5-493A-B311-1667637D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289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선택</a:t>
            </a:r>
          </a:p>
        </p:txBody>
      </p:sp>
      <p:sp>
        <p:nvSpPr>
          <p:cNvPr id="10" name="life-3">
            <a:extLst xmlns:a="http://schemas.openxmlformats.org/drawingml/2006/main">
              <a:ext uri="{FF2B5EF4-FFF2-40B4-BE49-F238E27FC236}">
                <a16:creationId xmlns:a16="http://schemas.microsoft.com/office/drawing/2014/main" id="{E6909475-C72D-489F-96AA-646EDFFC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1314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C29C3-05DF-48A1-B97A-7E232D7E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289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승인</a:t>
            </a:r>
          </a:p>
        </p:txBody>
      </p:sp>
      <p:sp>
        <p:nvSpPr>
          <p:cNvPr id="12" name="life-4">
            <a:extLst xmlns:a="http://schemas.openxmlformats.org/drawingml/2006/main">
              <a:ext uri="{FF2B5EF4-FFF2-40B4-BE49-F238E27FC236}">
                <a16:creationId xmlns:a16="http://schemas.microsoft.com/office/drawing/2014/main" id="{02EF8E3C-11EF-4191-A66B-91F94C24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71800"/>
            <a:ext cx="1314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319CF-3477-4502-A9C5-9EB04762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289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실행</a:t>
            </a:r>
          </a:p>
        </p:txBody>
      </p:sp>
      <p:sp>
        <p:nvSpPr>
          <p:cNvPr id="14" name="life-5">
            <a:extLst xmlns:a="http://schemas.openxmlformats.org/drawingml/2006/main">
              <a:ext uri="{FF2B5EF4-FFF2-40B4-BE49-F238E27FC236}">
                <a16:creationId xmlns:a16="http://schemas.microsoft.com/office/drawing/2014/main" id="{D52197C9-B905-4821-856F-BD37AAC0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1314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31510-1B89-405A-8627-00921038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289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</a:t>
            </a:r>
          </a:p>
        </p:txBody>
      </p:sp>
      <p:sp>
        <p:nvSpPr>
          <p:cNvPr id="16" name="life-6">
            <a:extLst xmlns:a="http://schemas.openxmlformats.org/drawingml/2006/main">
              <a:ext uri="{FF2B5EF4-FFF2-40B4-BE49-F238E27FC236}">
                <a16:creationId xmlns:a16="http://schemas.microsoft.com/office/drawing/2014/main" id="{9CB0F6D0-9C7A-4F49-982A-9E6AF86B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71800"/>
            <a:ext cx="1314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5A24F-8FA0-4AA4-82AA-CC6AC158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2897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복구·인계</a:t>
            </a:r>
          </a:p>
        </p:txBody>
      </p:sp>
      <p:cxnSp>
        <p:nvCxnSpPr>
          <p:cNvPr id="43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66900" y="34099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24250" y="34099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81600" y="34099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38950" y="34099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496300" y="34099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0153650" y="34099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AFA49-80E8-4B8A-AD88-571063A9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57750"/>
            <a:ext cx="929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실패를 숨기지 않고 다시 시도 · 다른 채널 · 사람 연결을 선택하게 합니다.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C194C173-43F6-4DD8-B240-5EA9B7B9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IROA.AI  ·  07</a:t>
            </a:r>
          </a:p>
        </p:txBody>
      </p:sp>
    </p:spTree>
    <p:extLst>
      <p:ext uri="{BB962C8B-B14F-4D97-AF65-F5344CB8AC3E}">
        <p14:creationId xmlns:p14="http://schemas.microsoft.com/office/powerpoint/2010/main" val="766220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238dddd4d4c0f"/>
          <a:srcRect xmlns:a="http://schemas.openxmlformats.org/drawingml/2006/main" l="19033" t="0" r="19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98C7C-2297-4936-9997-692369A1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0"/>
            <a:ext cx="5829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B28CEA-BBCF-48BF-81B3-83451D8D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04850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기기를 꺼도 오래 걸리는 요청은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안전하게 계속됩니다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3324F-CFFE-4247-B2BC-121D2E84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F5CBE-E61B-4A21-90D5-275EA5F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479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요청별 격리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E7173-3252-456D-8119-5EDF879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다른 사용자의 작업·권한과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47740-9B1C-4AF9-8E85-DCBDEB4B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81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9A8ED-8E10-4704-A65F-0C115990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242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일회성 권한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8C129-49B6-45A2-9E83-4EE8389B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필요한 범위와 시간만 허용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1D7C1-B311-47CA-9F2D-267793C7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57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053B3-6D23-4C77-ACE1-C865C2B6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005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공식 연결 우선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E1DCD-7408-4033-A16E-662AA982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API·표준 연동을 먼저 사용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F6CFE-3E76-4D4C-B1DF-07796E33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33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72CBD-B860-4D80-B73E-F247F52C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76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결과와 삭제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6B41A-9EA4-4B32-8D89-FEB0A468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29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완료·실패·정리 상태를 증명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9F8A4847-663F-4E16-A33B-9C91210C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IROA.AI  ·  08</a:t>
            </a:r>
          </a:p>
        </p:txBody>
      </p:sp>
    </p:spTree>
    <p:extLst>
      <p:ext uri="{BB962C8B-B14F-4D97-AF65-F5344CB8AC3E}">
        <p14:creationId xmlns:p14="http://schemas.microsoft.com/office/powerpoint/2010/main" val="191768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26A5FAA8-54A4-476B-92BA-1AD179F3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선택 가능한 도움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4A72F2-87F2-498C-B2F0-23FF7838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기술이 막히면 사람이 자연스럽게 이어받습니다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7D71E-053D-4711-96B4-27B5630F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반려 AI와 로봇은 사람을 대체하지 않습니다.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사용자가 정한 가족·이웃·기관으로 연결합니다.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AEB6A-B039-4FC6-9B0B-526E5F72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가족·보호자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활동지원사·자원봉사자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기관·상점 직원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긴급 규칙은 사용자 선택으로 설정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1e1ca51ce4b7f"/>
          <a:srcRect xmlns:a="http://schemas.openxmlformats.org/drawingml/2006/main" l="26713" t="0" r="267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1524000"/>
            <a:ext cx="2857500" cy="4095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2b69c5dd34b5a"/>
          <a:srcRect xmlns:a="http://schemas.openxmlformats.org/drawingml/2006/main" l="26285" t="0" r="262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1550" y="1524000"/>
            <a:ext cx="2914650" cy="4095750"/>
          </a:xfrm>
          <a:prstGeom xmlns:a="http://schemas.openxmlformats.org/drawingml/2006/main" prst="roundRect">
            <a:avLst>
              <a:gd name="adj" fmla="val 78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11B6B-B2C1-4D99-8AB1-51B30B8A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050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B6DC1DF-6B70-496B-AC32-36D29169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09</a:t>
            </a:r>
          </a:p>
        </p:txBody>
      </p:sp>
    </p:spTree>
    <p:extLst>
      <p:ext uri="{BB962C8B-B14F-4D97-AF65-F5344CB8AC3E}">
        <p14:creationId xmlns:p14="http://schemas.microsoft.com/office/powerpoint/2010/main" val="574539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AC68CC46-B68B-4393-91D7-D8B8CAAB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사용자 권리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C18F52-1EE5-48CA-9042-1406AD5E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개인정보를 모으기보다 필요한 권한만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BC87C-76A5-46A4-92DC-25DC11A2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022A9-5F38-4C27-AE03-1D138534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66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필요한 정보만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D5BB8-485B-4E94-870B-0C341D67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요청과 무관한 전체 개인정보를 모으지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66F90-1884-4EB4-8AD3-DF1F951C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9A4D9-46EF-42BB-A978-DFC6B57A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2F7C9-0499-479A-B739-4E92F1BE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337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필요한 시간만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5760B-19D7-4BBF-A9EE-AAF9FF25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527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작업이 끝나면 권한과 실행 공간을 정리합니다.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0AEA1-12A8-4277-A17B-58F01C2C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0E916-D46D-409F-B44B-223AA8BE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36C15-BDFD-4591-9269-CCAF6F85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00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필요한 곳에만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942EB-14F0-4F07-8A5A-2E354FC1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19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검증된 실행 공간과 승인된 도움 제공자만 받습니다.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C24F2-7582-4393-83E8-35FAFFC9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3385E-D756-4D2B-9D37-66218D4A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6A471-AF3C-47B9-8053-E11DC252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67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언제든 멈출 수 있게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2526B-C223-460D-A958-5983B90E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863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설명·취소·삭제·복구 경로를 제공합니다.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AD79FE9-908A-454C-8147-DB7FAD1B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IROA.AI  ·  10</a:t>
            </a:r>
          </a:p>
        </p:txBody>
      </p:sp>
    </p:spTree>
    <p:extLst>
      <p:ext uri="{BB962C8B-B14F-4D97-AF65-F5344CB8AC3E}">
        <p14:creationId xmlns:p14="http://schemas.microsoft.com/office/powerpoint/2010/main" val="5968586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B310D851-3C69-44CB-A436-B7DC1BE2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함께 만드는 가치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08E30B-17F8-4BF8-B732-D08CF007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접근성은 기관과 상점의 운영 성과가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61B74-50C3-4D91-98BB-29070066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반복 안내와 예외 처리를 줄이면서, 사용자가 실제 결과까지 도달했는지 측정합니다.</a:t>
            </a:r>
          </a:p>
        </p:txBody>
      </p:sp>
      <p:sp>
        <p:nvSpPr>
          <p:cNvPr id="4" name="value-center">
            <a:extLst xmlns:a="http://schemas.openxmlformats.org/drawingml/2006/main">
              <a:ext uri="{FF2B5EF4-FFF2-40B4-BE49-F238E27FC236}">
                <a16:creationId xmlns:a16="http://schemas.microsoft.com/office/drawing/2014/main" id="{8065F7F0-F1A8-4689-9A6A-0A880E8E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67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e408161084c98">
            <a:extLst>
              <a:ext uri="{96DAC541-7B7A-43D3-8B79-37D633B846F1}">
                <asvg:svgBlip xmlns:asvg="http://schemas.microsoft.com/office/drawing/2016/SVG/main" r:embed="R858327cdcd3f44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43550" y="304800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12969-82AD-4DE6-8FDE-61789581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576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완료를 증명하는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생활 지원망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AE2E6-1B8C-413B-9551-E5EA853E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A7171-6A23-4C98-AA99-B0E0A45A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사용자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E622C-C10E-4FFD-8814-682A28CE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자립과 선택권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5491C-DB87-4897-87FC-08F5D9E2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1422D-2E29-4A17-BF44-BB73309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149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59EAD-BAAA-4212-BCCE-1C77DA20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578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반복업무·인계 개선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96C6E-4F36-44B1-B84E-773FAF24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5EB38-BFDB-42DA-909D-D3498C4C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149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6DB8F-9E7C-4437-9D5D-DD6F65CF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578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 완료율·직원 부담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80128-46C9-4042-A613-4DFF941B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E6A7A-B1BD-4462-927E-99AE392D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194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도움 제공자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9F29E-D838-4CD5-B257-6A7A60C3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623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안전한 요청과 기여 인정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03B53-7824-4B78-90FE-4C4BD546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42925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AEBE6-64F3-4B2D-BFA4-D189978A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5816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실행 공간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6FB67-014F-4D0E-8C7E-A3E69866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9245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품질 기반 운영 보상</a:t>
            </a:r>
          </a:p>
        </p:txBody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B2641A2C-BF6C-4A28-9587-7FADA42A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11</a:t>
            </a:r>
          </a:p>
        </p:txBody>
      </p:sp>
    </p:spTree>
    <p:extLst>
      <p:ext uri="{BB962C8B-B14F-4D97-AF65-F5344CB8AC3E}">
        <p14:creationId xmlns:p14="http://schemas.microsoft.com/office/powerpoint/2010/main" val="540211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1132D94-6D00-4B76-942C-1B47BFFA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사업 모델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32A392-E804-4A62-ADBE-83FE2AC0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여러 수익원을 조합해 접근성을 지속합니다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BACE5-61A2-468C-84D6-DCB8EC02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취약계층 서비스를 개인 이용료 하나에 의존하지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1D98D-E927-49BB-A2FB-C4A49B0B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14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4B78F-5819-4086-80EA-98C7423D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기관 계약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D0BB7-D24C-45D7-B10B-A11365D1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지자체·복지기관·병원의 현장 지원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ACCED-49D9-4745-965B-A3C425FC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114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2980A-0E57-4AEB-AF46-EE69F5E4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670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상점 구독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D918A-B8BE-413C-A36D-F529F18C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718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실행형 키오스크와 원격 운영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4555E-C7B5-4BB0-A7CF-CBB3506F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114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1D7EF-D376-4A31-8E48-9A98C6C4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공공·사회공헌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A0EFF-A699-4D1A-B73E-829B4BC6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18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초기 현장 검증과 접근 거점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B38A4-6D63-48D0-BBF1-872196B0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114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B1E23-C2DB-42D0-9704-98C73206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실행 기여 보상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3B3AB-4129-4CDA-B393-271C1B1C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718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검증된 실행 공간·도움·데이터 기여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6B7C0-6C51-4749-ACFD-F64877C6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97349-5A62-4CCF-AF55-4330D699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생활 서비스 결제는 원화·카드·간편결제 등 기존 결제수단을 기본으로 합니다.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2FED839E-8E6A-42CC-8252-04F72AE3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12</a:t>
            </a:r>
          </a:p>
        </p:txBody>
      </p:sp>
    </p:spTree>
    <p:extLst>
      <p:ext uri="{BB962C8B-B14F-4D97-AF65-F5344CB8AC3E}">
        <p14:creationId xmlns:p14="http://schemas.microsoft.com/office/powerpoint/2010/main" val="18731099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A0230CC2-972A-4808-B1F9-713CE3F2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단계별 실행 계획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CF83F8-3D0F-47B1-86EE-ED798E8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작게 검증하고 안전 기준을 통과하며 확장합니다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F6951-6015-49D5-85E2-76A1DFD2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생활 요청에서 시작해 실행 공간·현장 기기·기관 연계로 범위를 넓힙니다.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4B75A-7452-4832-8319-CC7D9F5C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90BF8-86D3-4F25-8702-2AF1CFA3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4EEC5-F897-454C-A0B9-112AF56E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33D6D-4E9F-4CE0-BAE2-0F8F2EA9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0–3개월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00FB9-BDE7-46C2-984B-F304EC09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957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생활 요청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반려 친구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92B20-8ACE-45B0-AA3B-FF202747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58970-87C9-40CB-81EA-A5FBD8D2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289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D5D9F-736B-4207-9FBC-0ABB7D32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622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4–6개월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3C9D5-A874-4A20-8FFF-EBD2FC8D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957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보안 실행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공간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52BEC-0BAA-482E-9520-463D9F75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28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1D598-39FB-47A8-ACFE-7CC6A820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289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C01FD-513A-4913-BC50-7353D7FA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622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7–10개월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8D95D-97BB-467F-9024-45DD4CA5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957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실행형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키오스크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CBFAC-A786-488B-8712-118D02BF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28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810619-34C0-4471-AB96-EC1D4540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289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E9341-B60E-4AB9-9084-FDE92C7F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11–20개월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9D347-8321-4740-A91E-76EE8F4A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957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지역사회·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병원 연계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1F4D0-E7B1-461C-BA11-E0F3AAB3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28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2552B-AC28-4425-B21E-C8F90966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289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EB63F-B8D4-4265-871E-7A04AB7A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21개월 이후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AB3B9-72D8-45A5-82B9-1498C9E7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안전한 로봇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확장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3F043-7B7A-4D4B-AE93-A9F8BEB3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각 단계는 당사자 검증 · 법률·규제 검토 · 보안·복구 시험을 함께 통과해야 합니다.</a:t>
            </a:r>
          </a:p>
        </p:txBody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0910822B-E079-4106-B762-CA8DC04A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13</a:t>
            </a:r>
          </a:p>
        </p:txBody>
      </p:sp>
    </p:spTree>
    <p:extLst>
      <p:ext uri="{BB962C8B-B14F-4D97-AF65-F5344CB8AC3E}">
        <p14:creationId xmlns:p14="http://schemas.microsoft.com/office/powerpoint/2010/main" val="19845522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76aca0fc04ece"/>
          <a:srcRect xmlns:a="http://schemas.openxmlformats.org/drawingml/2006/main" l="0" t="7801" r="0" b="7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8DB11-6CA6-4ED2-A3A3-95D33806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9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0F964-8132-4D38-8E8F-8C8E07F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352df52ea489a">
            <a:extLst>
              <a:ext uri="{96DAC541-7B7A-43D3-8B79-37D633B846F1}">
                <asvg:svgBlip xmlns:asvg="http://schemas.microsoft.com/office/drawing/2016/SVG/main" r:embed="R1252a6a375244e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552450"/>
            <a:ext cx="1828800" cy="476250"/>
          </a:xfrm>
          <a:prstGeom xmlns:a="http://schemas.openxmlformats.org/drawingml/2006/main" prst="rect">
            <a:avLst/>
          </a:prstGeom>
        </p:spPr>
      </p:pic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9A14C8-BF07-46B4-BAD0-3F4BF154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첫 현장은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 만들 수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C5456-D574-461F-A35E-4CBCCE18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복지기관의 예약·이동  ·  소규모 매장의 실행형 키오스크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병원의 방문 준비 중 하나를 공동 검증하겠습니다.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84F93-F5F3-4B4B-A688-2FAF9511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iroa.ai</a:t>
            </a:r>
          </a:p>
        </p:txBody>
      </p:sp>
    </p:spTree>
    <p:extLst>
      <p:ext uri="{BB962C8B-B14F-4D97-AF65-F5344CB8AC3E}">
        <p14:creationId xmlns:p14="http://schemas.microsoft.com/office/powerpoint/2010/main" val="1967699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2026-08-27T05:35:53.9090000Z</dcterms:created>
  <dcterms:modified xsi:type="dcterms:W3CDTF">2026-08-27T05:35:53.9090000Z</dcterms:modified>
</coreProperties>
</file>