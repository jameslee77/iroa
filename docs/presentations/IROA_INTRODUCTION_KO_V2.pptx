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bc02670352445e" /><Relationship Type="http://schemas.openxmlformats.org/officeDocument/2006/relationships/extended-properties" Target="/docProps/app.xml" Id="R34a8ca122cfa43f6" /><Relationship Type="http://schemas.openxmlformats.org/officeDocument/2006/relationships/officeDocument" Target="/ppt/presentation.xml" Id="R464d2785692841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ac3b5884524eca"/>
  </p:sldMasterIdLst>
  <p:notesMasterIdLst>
    <p:notesMasterId xmlns:r="http://schemas.openxmlformats.org/officeDocument/2006/relationships" r:id="Rc5b269caad84417f"/>
  </p:notesMasterIdLst>
  <p:sldIdLst>
    <p:sldId xmlns:r="http://schemas.openxmlformats.org/officeDocument/2006/relationships" id="256" r:id="R8602198d656f47b2"/>
    <p:sldId xmlns:r="http://schemas.openxmlformats.org/officeDocument/2006/relationships" id="257" r:id="Rdeb52558df814b88"/>
    <p:sldId xmlns:r="http://schemas.openxmlformats.org/officeDocument/2006/relationships" id="258" r:id="R3eccb881b3c74dfe"/>
    <p:sldId xmlns:r="http://schemas.openxmlformats.org/officeDocument/2006/relationships" id="259" r:id="Rc9c923bb9033458d"/>
    <p:sldId xmlns:r="http://schemas.openxmlformats.org/officeDocument/2006/relationships" id="260" r:id="Rcb0f2b46e6554014"/>
    <p:sldId xmlns:r="http://schemas.openxmlformats.org/officeDocument/2006/relationships" id="261" r:id="Rff2a5f4342534fad"/>
    <p:sldId xmlns:r="http://schemas.openxmlformats.org/officeDocument/2006/relationships" id="262" r:id="R351bffed65194fd0"/>
    <p:sldId xmlns:r="http://schemas.openxmlformats.org/officeDocument/2006/relationships" id="263" r:id="Re930c6ca9ab147bc"/>
    <p:sldId xmlns:r="http://schemas.openxmlformats.org/officeDocument/2006/relationships" id="264" r:id="Rab08c1a9c68548e8"/>
    <p:sldId xmlns:r="http://schemas.openxmlformats.org/officeDocument/2006/relationships" id="265" r:id="Rdfdd9ca3fb544484"/>
    <p:sldId xmlns:r="http://schemas.openxmlformats.org/officeDocument/2006/relationships" id="266" r:id="Rb08600dfabd5492d"/>
    <p:sldId xmlns:r="http://schemas.openxmlformats.org/officeDocument/2006/relationships" id="267" r:id="R9014b80305b14c87"/>
    <p:sldId xmlns:r="http://schemas.openxmlformats.org/officeDocument/2006/relationships" id="268" r:id="R50b239d3ecd844be"/>
    <p:sldId xmlns:r="http://schemas.openxmlformats.org/officeDocument/2006/relationships" id="269" r:id="R29dbe339fa9b4c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ac2379a91746d8" /><Relationship Type="http://schemas.openxmlformats.org/officeDocument/2006/relationships/slideMaster" Target="/ppt/slideMasters/slideMaster1.xml" Id="R3cac3b5884524eca" /><Relationship Type="http://schemas.openxmlformats.org/officeDocument/2006/relationships/notesMaster" Target="/ppt/notesMasters/notesMaster1.xml" Id="Rc5b269caad84417f" /><Relationship Type="http://schemas.openxmlformats.org/officeDocument/2006/relationships/presProps" Target="/ppt/presProps.xml" Id="Reef86e7923e54708" /><Relationship Type="http://schemas.openxmlformats.org/officeDocument/2006/relationships/tableStyles" Target="/ppt/tableStyles.xml" Id="R0785d39a3f1046c0" /><Relationship Type="http://schemas.openxmlformats.org/officeDocument/2006/relationships/slide" Target="/ppt/slides/slide1.xml" Id="R8602198d656f47b2" /><Relationship Type="http://schemas.openxmlformats.org/officeDocument/2006/relationships/slide" Target="/ppt/slides/slide2.xml" Id="Rdeb52558df814b88" /><Relationship Type="http://schemas.openxmlformats.org/officeDocument/2006/relationships/slide" Target="/ppt/slides/slide3.xml" Id="R3eccb881b3c74dfe" /><Relationship Type="http://schemas.openxmlformats.org/officeDocument/2006/relationships/slide" Target="/ppt/slides/slide4.xml" Id="Rc9c923bb9033458d" /><Relationship Type="http://schemas.openxmlformats.org/officeDocument/2006/relationships/slide" Target="/ppt/slides/slide5.xml" Id="Rcb0f2b46e6554014" /><Relationship Type="http://schemas.openxmlformats.org/officeDocument/2006/relationships/slide" Target="/ppt/slides/slide6.xml" Id="Rff2a5f4342534fad" /><Relationship Type="http://schemas.openxmlformats.org/officeDocument/2006/relationships/slide" Target="/ppt/slides/slide7.xml" Id="R351bffed65194fd0" /><Relationship Type="http://schemas.openxmlformats.org/officeDocument/2006/relationships/slide" Target="/ppt/slides/slide8.xml" Id="Re930c6ca9ab147bc" /><Relationship Type="http://schemas.openxmlformats.org/officeDocument/2006/relationships/slide" Target="/ppt/slides/slide9.xml" Id="Rab08c1a9c68548e8" /><Relationship Type="http://schemas.openxmlformats.org/officeDocument/2006/relationships/slide" Target="/ppt/slides/slide10.xml" Id="Rdfdd9ca3fb544484" /><Relationship Type="http://schemas.openxmlformats.org/officeDocument/2006/relationships/slide" Target="/ppt/slides/slide11.xml" Id="Rb08600dfabd5492d" /><Relationship Type="http://schemas.openxmlformats.org/officeDocument/2006/relationships/slide" Target="/ppt/slides/slide12.xml" Id="R9014b80305b14c87" /><Relationship Type="http://schemas.openxmlformats.org/officeDocument/2006/relationships/slide" Target="/ppt/slides/slide13.xml" Id="R50b239d3ecd844be" /><Relationship Type="http://schemas.openxmlformats.org/officeDocument/2006/relationships/slide" Target="/ppt/slides/slide14.xml" Id="R29dbe339fa9b4c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0edb925a5e4a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58413c1b58479a" /><Relationship Type="http://schemas.openxmlformats.org/officeDocument/2006/relationships/notesMaster" Target="/ppt/notesMasters/notesMaster1.xml" Id="R844b1c8f54684d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ad3b7d86ac4fc1" /><Relationship Type="http://schemas.openxmlformats.org/officeDocument/2006/relationships/notesMaster" Target="/ppt/notesMasters/notesMaster1.xml" Id="R5816da14565b48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86b016adcb44c4" /><Relationship Type="http://schemas.openxmlformats.org/officeDocument/2006/relationships/notesMaster" Target="/ppt/notesMasters/notesMaster1.xml" Id="R1f45bb179c984d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93c844206d4881" /><Relationship Type="http://schemas.openxmlformats.org/officeDocument/2006/relationships/notesMaster" Target="/ppt/notesMasters/notesMaster1.xml" Id="Ra687d4357f5946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7d511859e946b1" /><Relationship Type="http://schemas.openxmlformats.org/officeDocument/2006/relationships/notesMaster" Target="/ppt/notesMasters/notesMaster1.xml" Id="R960ea8ee06cf41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fa78ff392f4d4b" /><Relationship Type="http://schemas.openxmlformats.org/officeDocument/2006/relationships/notesMaster" Target="/ppt/notesMasters/notesMaster1.xml" Id="Rad96a89ef49148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8d9d587a6e4f67" /><Relationship Type="http://schemas.openxmlformats.org/officeDocument/2006/relationships/notesMaster" Target="/ppt/notesMasters/notesMaster1.xml" Id="R373e896b31d741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7f5d818a574ba7" /><Relationship Type="http://schemas.openxmlformats.org/officeDocument/2006/relationships/notesMaster" Target="/ppt/notesMasters/notesMaster1.xml" Id="R04748800cd4e4d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6c073659d54b77" /><Relationship Type="http://schemas.openxmlformats.org/officeDocument/2006/relationships/notesMaster" Target="/ppt/notesMasters/notesMaster1.xml" Id="R8bf82c201f4c44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eacd8a6f344f2b" /><Relationship Type="http://schemas.openxmlformats.org/officeDocument/2006/relationships/notesMaster" Target="/ppt/notesMasters/notesMaster1.xml" Id="R98800127dd0f4d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3f248bd69247e3" /><Relationship Type="http://schemas.openxmlformats.org/officeDocument/2006/relationships/notesMaster" Target="/ppt/notesMasters/notesMaster1.xml" Id="R10f965ae514147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999e12c8072473e" /><Relationship Type="http://schemas.openxmlformats.org/officeDocument/2006/relationships/notesMaster" Target="/ppt/notesMasters/notesMaster1.xml" Id="Ra9f6d951e63b42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9346ab62044a09" /><Relationship Type="http://schemas.openxmlformats.org/officeDocument/2006/relationships/notesMaster" Target="/ppt/notesMasters/notesMaster1.xml" Id="R6d5ccbfbd0244f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b68bcccd00240d7" /><Relationship Type="http://schemas.openxmlformats.org/officeDocument/2006/relationships/notesMaster" Target="/ppt/notesMasters/notesMaster1.xml" Id="R3303b2308ed943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표지, 1.1 미션, 1.4 제품 약속</a:t>
            </a:r>
          </a:p>
          <a:p xmlns:a="http://schemas.openxmlformats.org/drawingml/2006/main">
            <a:r>
              <a:t>- Photo: Pexels 6248760 by Gary Barnes — https://www.pexels.com/photo/cheerful-multiracial-couple-drinking-coffee-in-cafe-6248760/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3.1 디지털 접근 격차, 3.2 현재 접근성 솔루션의 한계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2.0 하나의 요청, 4 서비스·제품 체계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2.1 재활병원 예약과 이동, 13 병원·건강·착용형 기기 연계</a:t>
            </a:r>
          </a:p>
          <a:p xmlns:a="http://schemas.openxmlformats.org/drawingml/2006/main">
            <a:r>
              <a:t>- Photo: Pexels 8376171 by Tima Miroshnichenko — https://www.pexels.com/photo/high-angle-shot-of-a-person-making-a-zoom-call-to-a-doctor-8376171/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2.2 키오스크에서 주문과 결제, 9 AI 키오스크</a:t>
            </a:r>
          </a:p>
          <a:p xmlns:a="http://schemas.openxmlformats.org/drawingml/2006/main">
            <a:r>
              <a:t>- Photo: Pexels 4064023 by Marcus Aurelius — https://www.pexels.com/photo/businesswoman-paying-using-smartphone-4064023/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4 서비스·제품 체계, 10 중앙 서비스와 보안 실행 공간의 연결 구조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1.4 제품 약속, 2.0 요청 생명주기, 5 안전한 실행 원칙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8 보안 실행 공간, 10.5 데이터 등급, 12 개인정보 보호와 안전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2.3 단계적 안부 확인, 4.3 사람 도움 네트워크, 4.4 반려 친구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5.4 설명 가능성과 취소 가능성, 12 개인정보 보호와 안전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3.3 주요 고객과 참여자, 17.2 이해관계자 가치, 17.4 사회성과 지표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15 보상 경제, 16 토큰 이코노미, 17.1 수익원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18 단계별 실행 계획, 21 공개 전 검증과 다음 결정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IROA whitepaper: docs/whitepaper/IROA_WHITEPAPER_KO.md — 3.5 초기 진입시장, 21 공개 전 검증과 다음 결정, 22 결론</a:t>
            </a:r>
          </a:p>
          <a:p xmlns:a="http://schemas.openxmlformats.org/drawingml/2006/main">
            <a:r>
              <a:t>- IROA brand: docs/brand/IROA_BI_GUIDE_KO.md — approved Track A identity and palette</a:t>
            </a:r>
          </a:p>
          <a:p xmlns:a="http://schemas.openxmlformats.org/drawingml/2006/main">
            <a:r>
              <a:t>- Disclosure: photographs are illustrative and do not establish actual IROA users, facilities, products, or partnerships.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8a238e01a42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549419cc4f4bb4" /><Relationship Type="http://schemas.openxmlformats.org/officeDocument/2006/relationships/slideLayout" Target="/ppt/slideLayouts/slideLayout1.xml" Id="Rb3507a59411a49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507a59411a49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4365f029144ac" /><Relationship Type="http://schemas.openxmlformats.org/officeDocument/2006/relationships/image" Target="/ppt/media/image.jpeg" Id="R7684dd0a6a544b57" /><Relationship Type="http://schemas.openxmlformats.org/officeDocument/2006/relationships/image" Target="/ppt/media/image.png" Id="Rf481bf9dc69341f7" /><Relationship Type="http://schemas.openxmlformats.org/officeDocument/2006/relationships/image" Target="/ppt/media/image.svg" Id="Rb6cf30c09c6845c3" /><Relationship Type="http://schemas.openxmlformats.org/officeDocument/2006/relationships/notesSlide" Target="/ppt/notesSlides/notesSlide1.xml" Id="R32ca974d25be4c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69d372f194ae4" /><Relationship Type="http://schemas.openxmlformats.org/officeDocument/2006/relationships/notesSlide" Target="/ppt/notesSlides/notesSlide2.xml" Id="Rfa71da3bc66f43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019f0af264c75" /><Relationship Type="http://schemas.openxmlformats.org/officeDocument/2006/relationships/notesSlide" Target="/ppt/notesSlides/notesSlide3.xml" Id="R4a7cbd6cf72c42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55e59cafa44cf" /><Relationship Type="http://schemas.openxmlformats.org/officeDocument/2006/relationships/image" Target="/ppt/media/image2.jpeg" Id="R3250639e4da04d8b" /><Relationship Type="http://schemas.openxmlformats.org/officeDocument/2006/relationships/notesSlide" Target="/ppt/notesSlides/notesSlide4.xml" Id="Re49536f719a346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ef74d7909454d" /><Relationship Type="http://schemas.openxmlformats.org/officeDocument/2006/relationships/image" Target="/ppt/media/image3.jpeg" Id="Rbf12ac9d96e1482a" /><Relationship Type="http://schemas.openxmlformats.org/officeDocument/2006/relationships/notesSlide" Target="/ppt/notesSlides/notesSlide5.xml" Id="R51d6f09311994c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7d7184f914a19" /><Relationship Type="http://schemas.openxmlformats.org/officeDocument/2006/relationships/notesSlide" Target="/ppt/notesSlides/notesSlide6.xml" Id="R33d0325bc46840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523c890914a8c" /><Relationship Type="http://schemas.openxmlformats.org/officeDocument/2006/relationships/notesSlide" Target="/ppt/notesSlides/notesSlide7.xml" Id="R9fe479b3641b4c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a1ab880ee4a47" /><Relationship Type="http://schemas.openxmlformats.org/officeDocument/2006/relationships/notesSlide" Target="/ppt/notesSlides/notesSlide8.xml" Id="R7470b80296174bc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abd944c0e44e0" /><Relationship Type="http://schemas.openxmlformats.org/officeDocument/2006/relationships/notesSlide" Target="/ppt/notesSlides/notesSlide9.xml" Id="R64255d37789841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ea7c82aa74ed2" /><Relationship Type="http://schemas.openxmlformats.org/officeDocument/2006/relationships/notesSlide" Target="/ppt/notesSlides/notesSlide10.xml" Id="Re937866f45e345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5e63b0b394ac3" /><Relationship Type="http://schemas.openxmlformats.org/officeDocument/2006/relationships/notesSlide" Target="/ppt/notesSlides/notesSlide11.xml" Id="R47d50503610b4e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aaf96b029474d" /><Relationship Type="http://schemas.openxmlformats.org/officeDocument/2006/relationships/notesSlide" Target="/ppt/notesSlides/notesSlide12.xml" Id="R9206dedc76af43b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f3ed6d0604198" /><Relationship Type="http://schemas.openxmlformats.org/officeDocument/2006/relationships/notesSlide" Target="/ppt/notesSlides/notesSlide13.xml" Id="R25d56de2872c4e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094eedac1416d" /><Relationship Type="http://schemas.openxmlformats.org/officeDocument/2006/relationships/image" Target="/ppt/media/image2.png" Id="R59364e7163f04838" /><Relationship Type="http://schemas.openxmlformats.org/officeDocument/2006/relationships/image" Target="/ppt/media/image2.svg" Id="Rcfc5f648e6db44ae" /><Relationship Type="http://schemas.openxmlformats.org/officeDocument/2006/relationships/notesSlide" Target="/ppt/notesSlides/notesSlide14.xml" Id="R8701b9d22be94b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84dd0a6a544b57"/>
          <a:srcRect xmlns:a="http://schemas.openxmlformats.org/drawingml/2006/main" l="20378" t="0" r="20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29952-194E-4AA8-873C-688F134D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28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81bf9dc69341f7">
            <a:extLst>
              <a:ext uri="{96DAC541-7B7A-43D3-8B79-37D633B846F1}">
                <asvg:svgBlip xmlns:asvg="http://schemas.microsoft.com/office/drawing/2016/SVG/main" r:embed="Rb6cf30c09c6845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90550"/>
            <a:ext cx="1962150" cy="514350"/>
          </a:xfrm>
          <a:prstGeom xmlns:a="http://schemas.openxmlformats.org/drawingml/2006/main" prst="rect">
            <a:avLst/>
          </a:prstGeom>
        </p:spPr>
      </p:pic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9BA505E-B1B6-4634-9FE7-8052CC8D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일상을 이롭게.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필요한 일을 끝까지.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25821-0982-4EF4-9B6B-6DC7B9E0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한 번 말한 생활 요청을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안전한 실행과 사람 도움으로 완성합니다.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BC758-57AB-47AB-A58E-EEF32345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IROA.AI 소개</a:t>
            </a:r>
          </a:p>
        </p:txBody>
      </p:sp>
    </p:spTree>
    <p:extLst>
      <p:ext uri="{BB962C8B-B14F-4D97-AF65-F5344CB8AC3E}">
        <p14:creationId xmlns:p14="http://schemas.microsoft.com/office/powerpoint/2010/main" val="15711265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D26254D8-E1EF-4148-9783-67554434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74F061-4DDE-4561-B442-92B86BFA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디지털 서비스가 늘수록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완료까지 가는 길은 더 복잡해집니다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E613A-B6AE-4BB8-A922-EC019057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사용자는 원하는 결과보다 앱·인증·반복 입력을 먼저 통과해야 합니다.</a:t>
            </a:r>
          </a:p>
        </p:txBody>
      </p:sp>
      <p:sp>
        <p:nvSpPr>
          <p:cNvPr id="4" name="anchor-friction-0">
            <a:extLst xmlns:a="http://schemas.openxmlformats.org/drawingml/2006/main">
              <a:ext uri="{FF2B5EF4-FFF2-40B4-BE49-F238E27FC236}">
                <a16:creationId xmlns:a16="http://schemas.microsoft.com/office/drawing/2014/main" id="{4480D37F-A0D4-4117-99A2-22F53233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00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friction-1">
            <a:extLst xmlns:a="http://schemas.openxmlformats.org/drawingml/2006/main">
              <a:ext uri="{FF2B5EF4-FFF2-40B4-BE49-F238E27FC236}">
                <a16:creationId xmlns:a16="http://schemas.microsoft.com/office/drawing/2014/main" id="{7FBDE570-6E6E-4134-9523-D948F8B0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1600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friction-2">
            <a:extLst xmlns:a="http://schemas.openxmlformats.org/drawingml/2006/main">
              <a:ext uri="{FF2B5EF4-FFF2-40B4-BE49-F238E27FC236}">
                <a16:creationId xmlns:a16="http://schemas.microsoft.com/office/drawing/2014/main" id="{9E3A75FB-1964-4797-BB58-1DC62A8D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43250"/>
            <a:ext cx="1600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friction-3">
            <a:extLst xmlns:a="http://schemas.openxmlformats.org/drawingml/2006/main">
              <a:ext uri="{FF2B5EF4-FFF2-40B4-BE49-F238E27FC236}">
                <a16:creationId xmlns:a16="http://schemas.microsoft.com/office/drawing/2014/main" id="{789B4B9B-9ED6-486E-AA32-9945B60C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43250"/>
            <a:ext cx="1600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friction-4">
            <a:extLst xmlns:a="http://schemas.openxmlformats.org/drawingml/2006/main">
              <a:ext uri="{FF2B5EF4-FFF2-40B4-BE49-F238E27FC236}">
                <a16:creationId xmlns:a16="http://schemas.microsoft.com/office/drawing/2014/main" id="{CA46A582-6F1B-4760-A8D8-520F0A99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86000" y="3552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796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362450" y="3552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796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438900" y="3552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796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552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C8796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4A066-6F23-4116-BF6E-6BD41B80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600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9F5D8-3F03-4296-ABF7-CC8D45E5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생활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BF8D9-C0E6-4A96-B37A-9E4FD1A5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1600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0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775699-E6A5-46EC-8F41-480B98E2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766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앱·서비스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탐색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49189-037D-401D-81C1-7A4B5C1B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43250"/>
            <a:ext cx="1600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0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C8B1A5-0BB8-4253-881F-91B8A29E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766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가입·인증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5E9333-3B12-4D17-9798-9E1A31F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43250"/>
            <a:ext cx="1600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0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DBF5E-E870-439B-BD31-17CCFCD9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76600"/>
            <a:ext cx="140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조건 반복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입력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BC9F2-F2CB-4419-B961-B323A12A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25146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F52CF-B1C4-4AE6-B661-A944545A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766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결과를 다시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1214E-AD93-4D3B-A307-AAA870E3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238625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88CB3F-7C36-430D-A07C-3917648F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958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다시 로그인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D2FD5A-B8D8-4098-8C01-66F02EDE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38625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4E7A8-626F-4031-9FBE-00D4F113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958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작은 화면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42736A-C177-47C3-9F11-7240DA891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38625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91A9BB-5C45-4A8D-933A-61A3ADB3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반복 입력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C3B6F1-C574-42D7-A691-F585731E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43E27F-40B8-436D-AE7B-D0EFBD53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결과 불확실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6DA2B6-F47B-42FA-8963-4542C3F0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문제는 기능의 수가 아니라, 실제 결과까지 이어지지 않는 경험입니다.</a:t>
            </a:r>
          </a:p>
        </p:txBody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6939B38A-8C4B-410D-9696-DA49CA99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02</a:t>
            </a:r>
          </a:p>
        </p:txBody>
      </p:sp>
    </p:spTree>
    <p:extLst>
      <p:ext uri="{BB962C8B-B14F-4D97-AF65-F5344CB8AC3E}">
        <p14:creationId xmlns:p14="http://schemas.microsoft.com/office/powerpoint/2010/main" val="1460816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0316FADA-CF62-458A-ABB5-9D6D8327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하나의 요청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70BE1C-BBED-4DC8-8FF6-2EB27C44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한 번 말한 요청은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기기가 바뀌어도 이어집니다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3AC7A-3CC9-4EB3-AD92-249DA47C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채널은 바뀌어도 요청 상태·승인·책임 경계는 그대로 유지됩니다.</a:t>
            </a:r>
          </a:p>
        </p:txBody>
      </p:sp>
      <p:sp>
        <p:nvSpPr>
          <p:cNvPr id="4" name="anchor-continuity-0">
            <a:extLst xmlns:a="http://schemas.openxmlformats.org/drawingml/2006/main">
              <a:ext uri="{FF2B5EF4-FFF2-40B4-BE49-F238E27FC236}">
                <a16:creationId xmlns:a16="http://schemas.microsoft.com/office/drawing/2014/main" id="{BB1BEDBA-A10F-4C49-976D-D24D0AD2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continuity-1">
            <a:extLst xmlns:a="http://schemas.openxmlformats.org/drawingml/2006/main">
              <a:ext uri="{FF2B5EF4-FFF2-40B4-BE49-F238E27FC236}">
                <a16:creationId xmlns:a16="http://schemas.microsoft.com/office/drawing/2014/main" id="{53CD19A1-E94E-417F-8F2D-88844FB0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337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continuity-2">
            <a:extLst xmlns:a="http://schemas.openxmlformats.org/drawingml/2006/main">
              <a:ext uri="{FF2B5EF4-FFF2-40B4-BE49-F238E27FC236}">
                <a16:creationId xmlns:a16="http://schemas.microsoft.com/office/drawing/2014/main" id="{F98C5B6C-93FB-4EE0-9FD4-698E4F85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continuity-3">
            <a:extLst xmlns:a="http://schemas.openxmlformats.org/drawingml/2006/main">
              <a:ext uri="{FF2B5EF4-FFF2-40B4-BE49-F238E27FC236}">
                <a16:creationId xmlns:a16="http://schemas.microsoft.com/office/drawing/2014/main" id="{26862224-0C97-4C37-82B6-85526509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continuity-4">
            <a:extLst xmlns:a="http://schemas.openxmlformats.org/drawingml/2006/main">
              <a:ext uri="{FF2B5EF4-FFF2-40B4-BE49-F238E27FC236}">
                <a16:creationId xmlns:a16="http://schemas.microsoft.com/office/drawing/2014/main" id="{8B34D005-D0E4-4ACC-B8D5-3EF2AD5C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nchor-continuity-5">
            <a:extLst xmlns:a="http://schemas.openxmlformats.org/drawingml/2006/main">
              <a:ext uri="{FF2B5EF4-FFF2-40B4-BE49-F238E27FC236}">
                <a16:creationId xmlns:a16="http://schemas.microsoft.com/office/drawing/2014/main" id="{E2CE9605-0CAE-4EDC-A6CD-73055775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33750"/>
            <a:ext cx="144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962150" y="37147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37147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48350" y="37147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791450" y="37147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734550" y="37147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0EBC7-0EE8-4A81-9DAA-B0F14B89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447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C6C72-F171-492F-BB3D-104AF6BB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요청 말하기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8B665-8BC1-41EF-BFDF-E0E46383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33750"/>
            <a:ext cx="1447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52CF17-A821-4302-8CF5-F3934870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67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전화·AI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E289D-142F-4BD4-A206-14842479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33750"/>
            <a:ext cx="1447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F5362-79ED-4423-AFE2-61F853CE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Watch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5F60D7-CCD3-48F5-9E84-FE74EE39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447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E8F09-A651-4398-9DF6-9CD505D1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67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보안 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CF66B-3DC7-41C0-807F-3CA7DD70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1447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B70733-FC6B-454D-A755-BB82ADAA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Kiosk·사람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4CC73-6575-4CE1-856C-923F45FA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33750"/>
            <a:ext cx="14478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8361FC-FF74-4E99-BD2C-178C06F8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467100"/>
            <a:ext cx="1257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완료 증명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9A215-2E0C-4304-9A5B-E5849527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83CD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95FE39-D200-4C1C-AFFD-D6178307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29175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공유되는 것  ·  요청 상태   |   사용자 승인   |   진행 기록   |   책임 경계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F77909-2C30-430C-B51D-CF9B9460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6737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사용자는 기기를 배우는 대신 원하는 결과를 말하고, 선택하고, 승인합니다.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FA5FB58B-758B-40BE-BBDB-6FDD239E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IROA.AI  ·  03</a:t>
            </a:r>
          </a:p>
        </p:txBody>
      </p:sp>
    </p:spTree>
    <p:extLst>
      <p:ext uri="{BB962C8B-B14F-4D97-AF65-F5344CB8AC3E}">
        <p14:creationId xmlns:p14="http://schemas.microsoft.com/office/powerpoint/2010/main" val="687739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0639e4da04d8b"/>
          <a:srcRect xmlns:a="http://schemas.openxmlformats.org/drawingml/2006/main" l="17925" t="0" r="179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2247900"/>
            <a:ext cx="2933700" cy="3048000"/>
          </a:xfrm>
          <a:prstGeom xmlns:a="http://schemas.openxmlformats.org/drawingml/2006/main" prst="roundRect">
            <a:avLst>
              <a:gd name="adj" fmla="val 7792"/>
            </a:avLst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0EF423E-3E05-4018-8F80-681B05D9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생활 요청 사례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96DF065-F70A-400D-8A8C-CD5809C0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병원 예약부터 이동 준비까지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하나의 요청으로 이어집니다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A03AC-520D-413D-9476-B0473F35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“다음 주 화요일 오전 재활병원과 휠체어 이동을 함께 준비해줘.”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9E819-DCA2-47D8-9FB2-767F630D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95625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0DE2A-700D-4BAC-A2C5-451E2B46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578FB-816A-417B-BC52-75769315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E7F12-470B-4085-BE97-DDF8A30B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요청 이해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F7D2DC-CA39-4A5F-8CE9-83E25324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860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병원·시간·이동 조건을 함께 파악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F461B6-DF6A-49EE-9F13-67921921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ADA6D2-E9AC-4397-9292-15914FAD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07AEF-6B2A-45D5-8BDB-D9C380FD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95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선택지 비교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051982-2F2B-4957-92F5-52723C70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052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가능 일정과 비용·이동 조건을 쉬운 말로 설명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C094AB-8AB1-4F46-8E13-097CC2DB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42F80-D6E2-4DA7-87F8-632EEBDC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98698-9918-4E7E-9F83-1C65FA28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최종 승인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52E7E2-BFCC-48EC-BFD7-DF29278C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2432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예약과 이동을 각각 다시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C8587-0175-4D42-ABC6-81CCFDB3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4FE36-6617-4FE6-856B-3795808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006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47245-1956-4AFE-B437-70F9F958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33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연속 실행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F951D-0889-427D-B926-85A9B74E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4345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병원 예약 후 휠체어 이동을 이어서 준비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00ED56-D3D5-4D1F-8711-83B25E03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C4BB2-A303-4C90-AFEB-2BBED636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9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92015C-F4B5-4580-9CCA-8706740D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530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알림·인계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F4B0D-7C67-435D-9202-D8300B15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62575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전날 알림과 실패 시 가족·기관 인계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F69E2E-B05C-47FA-BC46-2DDDAF3A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524500"/>
            <a:ext cx="2933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사진은 상황을 보여주고, 흐름은 실제 서비스가 해야 할 일을 설명합니다.</a:t>
            </a: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1AC76413-54B2-4735-B7FC-29C5865D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04</a:t>
            </a:r>
          </a:p>
        </p:txBody>
      </p:sp>
    </p:spTree>
    <p:extLst>
      <p:ext uri="{BB962C8B-B14F-4D97-AF65-F5344CB8AC3E}">
        <p14:creationId xmlns:p14="http://schemas.microsoft.com/office/powerpoint/2010/main" val="6440667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2ac9d96e1482a"/>
          <a:srcRect xmlns:a="http://schemas.openxmlformats.org/drawingml/2006/main" l="0" t="1910" r="0" b="19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742950"/>
            <a:ext cx="2228850" cy="1428750"/>
          </a:xfrm>
          <a:prstGeom xmlns:a="http://schemas.openxmlformats.org/drawingml/2006/main" prst="roundRect">
            <a:avLst>
              <a:gd name="adj" fmla="val 10667"/>
            </a:avLst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D68E1EF-7BF5-4064-A826-781A0EAF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생활 요청 사례 02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00C55C-270E-47A9-B03A-6114DB3D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781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키오스크의 목표는 메뉴 탐색이 아니라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안전한 주문 완료입니다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2F6EA-66D9-4641-BE10-91FBF71D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접근성 설정과 선택 조건은 임시로 적용하고, 결제 전에는 사용자가 다시 승인합니다.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E03AD-A2CC-48D9-8652-132662A9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099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76F3D-A986-44AA-81E8-4CD2ED82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958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DDAAB-E94F-4D66-8CAB-F4977C3E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5A8E9-FC76-4E53-B403-FF88A7A2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958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A1912-6F17-4A86-8AC3-F62645E7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3414E-BA77-45A3-B8FD-D714DE288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958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4910A-2E33-42E7-ACFD-8921F318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099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D287A-7BD7-4542-A922-B591EDF6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95800"/>
            <a:ext cx="428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5A29F-5EA4-4B72-9F0C-4745C6E3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사용자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126C6-F2E1-4AD2-8D90-1FF1B2F0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IROA·현장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256FB-2FF2-48D5-A4E7-1D0672AB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4795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30F98-B992-4404-8B8D-8EF981D0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813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원하는 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말하기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57AC9-664D-46B9-A07C-7CFDF7DF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13385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8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FA2B78-549E-4CF4-92AC-AA0474D0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672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개인 설정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임시 적용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0F023-CF4B-4213-A955-8DC00EE8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2900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709A7-129B-40C1-A053-F156B7D4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33B7C-B54E-4E61-AD75-1C89BED1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후보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0026B-06FD-4BBD-AA6A-D729A611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3385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8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21827-22A4-4AEC-AB32-C12058A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조건에 맞게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후보 축소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DE9C93-407A-4ABF-B4CA-3BC6BE3F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2900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DDD0A5-D497-4EBC-A506-8AA113AA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4795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856D85-6A4B-4681-85CB-262BDFE3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813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수량·옵션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선택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D02368-2A00-46C0-B2A1-6331F8F9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13385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8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0526AA-8863-4CDE-AA44-2DD1F597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672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쉬운 말로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차이 설명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6F62AD-53D3-4ED9-A9F8-D4ABE2936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2900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45679D-C21A-4256-8029-84AB3387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795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9C319E-C7A1-4E74-BFD8-8F795BF9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813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 승인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520953-621F-4546-9AE8-7158AB34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8E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D44551-766C-40A5-BE4D-75F2D44A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72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금액·품목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다시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87DC11-3C4C-4A24-9E79-187FFD63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CFA2E3-6C30-424E-BC8A-350F8D14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4795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550788-176E-4EDF-838A-E092DFA5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813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완료 확인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D537CA-787E-4507-836A-5E40AAB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133850"/>
            <a:ext cx="1333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18A332-0F34-4C42-89B3-2E0E52BC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672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품절·불안 시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직원 인계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F5D32C-E7AD-426F-986D-7500F527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429000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31BB67-ED58-4EE0-B179-474030B0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76875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이용이 끝나면 개인화 정보와 임시 권한을 삭제합니다.</a:t>
            </a:r>
          </a:p>
        </p:txBody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3348F3BB-00D8-4F47-B675-A9D4CF09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05</a:t>
            </a:r>
          </a:p>
        </p:txBody>
      </p:sp>
    </p:spTree>
    <p:extLst>
      <p:ext uri="{BB962C8B-B14F-4D97-AF65-F5344CB8AC3E}">
        <p14:creationId xmlns:p14="http://schemas.microsoft.com/office/powerpoint/2010/main" val="3498179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eyebrow">
            <a:extLst xmlns:a="http://schemas.openxmlformats.org/drawingml/2006/main">
              <a:ext uri="{FF2B5EF4-FFF2-40B4-BE49-F238E27FC236}">
                <a16:creationId xmlns:a16="http://schemas.microsoft.com/office/drawing/2014/main" id="{323F2BD3-904D-445B-AD38-70F7FEB9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 서비스 체계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8A9952-ACD6-452B-8646-5E9C5204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일곱 개 이용 창구가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하나의 요청 상태를 공유합니다</a:t>
            </a:r>
          </a:p>
        </p:txBody>
      </p:sp>
      <p:sp>
        <p:nvSpPr>
          <p:cNvPr id="3" name="anchor-channel-0">
            <a:extLst xmlns:a="http://schemas.openxmlformats.org/drawingml/2006/main">
              <a:ext uri="{FF2B5EF4-FFF2-40B4-BE49-F238E27FC236}">
                <a16:creationId xmlns:a16="http://schemas.microsoft.com/office/drawing/2014/main" id="{5C156827-9075-44CD-BA46-F12B9755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anchor-channel-1">
            <a:extLst xmlns:a="http://schemas.openxmlformats.org/drawingml/2006/main">
              <a:ext uri="{FF2B5EF4-FFF2-40B4-BE49-F238E27FC236}">
                <a16:creationId xmlns:a16="http://schemas.microsoft.com/office/drawing/2014/main" id="{8D0D236F-2C20-45CD-951B-C1FA4320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3837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channel-2">
            <a:extLst xmlns:a="http://schemas.openxmlformats.org/drawingml/2006/main">
              <a:ext uri="{FF2B5EF4-FFF2-40B4-BE49-F238E27FC236}">
                <a16:creationId xmlns:a16="http://schemas.microsoft.com/office/drawing/2014/main" id="{B4F246B8-66BF-40A4-9152-E94A4134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3837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channel-3">
            <a:extLst xmlns:a="http://schemas.openxmlformats.org/drawingml/2006/main">
              <a:ext uri="{FF2B5EF4-FFF2-40B4-BE49-F238E27FC236}">
                <a16:creationId xmlns:a16="http://schemas.microsoft.com/office/drawing/2014/main" id="{7B86B5FA-B246-4B32-B9FE-6D731DA2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3837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channel-4">
            <a:extLst xmlns:a="http://schemas.openxmlformats.org/drawingml/2006/main">
              <a:ext uri="{FF2B5EF4-FFF2-40B4-BE49-F238E27FC236}">
                <a16:creationId xmlns:a16="http://schemas.microsoft.com/office/drawing/2014/main" id="{E68541F9-2283-4CDB-9498-21743A5E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channel-5">
            <a:extLst xmlns:a="http://schemas.openxmlformats.org/drawingml/2006/main">
              <a:ext uri="{FF2B5EF4-FFF2-40B4-BE49-F238E27FC236}">
                <a16:creationId xmlns:a16="http://schemas.microsoft.com/office/drawing/2014/main" id="{FD6495FD-DB94-4E6C-AD6C-CA494349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nchor-channel-6">
            <a:extLst xmlns:a="http://schemas.openxmlformats.org/drawingml/2006/main">
              <a:ext uri="{FF2B5EF4-FFF2-40B4-BE49-F238E27FC236}">
                <a16:creationId xmlns:a16="http://schemas.microsoft.com/office/drawing/2014/main" id="{DB3610B3-F4AF-422F-B702-30D62CB8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38375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anchor-shared-top-0">
            <a:extLst xmlns:a="http://schemas.openxmlformats.org/drawingml/2006/main">
              <a:ext uri="{FF2B5EF4-FFF2-40B4-BE49-F238E27FC236}">
                <a16:creationId xmlns:a16="http://schemas.microsoft.com/office/drawing/2014/main" id="{C5374783-0528-44A5-B924-E4079188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147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anchor-shared-top-1">
            <a:extLst xmlns:a="http://schemas.openxmlformats.org/drawingml/2006/main">
              <a:ext uri="{FF2B5EF4-FFF2-40B4-BE49-F238E27FC236}">
                <a16:creationId xmlns:a16="http://schemas.microsoft.com/office/drawing/2014/main" id="{63F37AB9-D285-415F-93BC-92C82C54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3147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anchor-shared-top-2">
            <a:extLst xmlns:a="http://schemas.openxmlformats.org/drawingml/2006/main">
              <a:ext uri="{FF2B5EF4-FFF2-40B4-BE49-F238E27FC236}">
                <a16:creationId xmlns:a16="http://schemas.microsoft.com/office/drawing/2014/main" id="{202FA0FB-4CF4-4902-A0BC-1C65D767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147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anchor-shared-top-3">
            <a:extLst xmlns:a="http://schemas.openxmlformats.org/drawingml/2006/main">
              <a:ext uri="{FF2B5EF4-FFF2-40B4-BE49-F238E27FC236}">
                <a16:creationId xmlns:a16="http://schemas.microsoft.com/office/drawing/2014/main" id="{3DE82A27-DE99-470C-8C05-D9AC202B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147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anchor-shared-top-4">
            <a:extLst xmlns:a="http://schemas.openxmlformats.org/drawingml/2006/main">
              <a:ext uri="{FF2B5EF4-FFF2-40B4-BE49-F238E27FC236}">
                <a16:creationId xmlns:a16="http://schemas.microsoft.com/office/drawing/2014/main" id="{AE16F4B8-66E1-413A-A0A1-9CCDA752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anchor-shared-top-5">
            <a:extLst xmlns:a="http://schemas.openxmlformats.org/drawingml/2006/main">
              <a:ext uri="{FF2B5EF4-FFF2-40B4-BE49-F238E27FC236}">
                <a16:creationId xmlns:a16="http://schemas.microsoft.com/office/drawing/2014/main" id="{0DC291C6-B075-4878-9916-35FB756A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147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anchor-shared-top-6">
            <a:extLst xmlns:a="http://schemas.openxmlformats.org/drawingml/2006/main">
              <a:ext uri="{FF2B5EF4-FFF2-40B4-BE49-F238E27FC236}">
                <a16:creationId xmlns:a16="http://schemas.microsoft.com/office/drawing/2014/main" id="{A91EE730-46D5-4511-8769-EDBB1EA1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31470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anchor-execution-0">
            <a:extLst xmlns:a="http://schemas.openxmlformats.org/drawingml/2006/main">
              <a:ext uri="{FF2B5EF4-FFF2-40B4-BE49-F238E27FC236}">
                <a16:creationId xmlns:a16="http://schemas.microsoft.com/office/drawing/2014/main" id="{9ABCCE58-181E-4419-A0D0-B9E89346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anchor-execution-1">
            <a:extLst xmlns:a="http://schemas.openxmlformats.org/drawingml/2006/main">
              <a:ext uri="{FF2B5EF4-FFF2-40B4-BE49-F238E27FC236}">
                <a16:creationId xmlns:a16="http://schemas.microsoft.com/office/drawing/2014/main" id="{DEECF42E-23AD-4648-ACFF-8274259D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0537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anchor-execution-2">
            <a:extLst xmlns:a="http://schemas.openxmlformats.org/drawingml/2006/main">
              <a:ext uri="{FF2B5EF4-FFF2-40B4-BE49-F238E27FC236}">
                <a16:creationId xmlns:a16="http://schemas.microsoft.com/office/drawing/2014/main" id="{5CFC4DD9-E199-4529-9030-D6278A0B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0537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anchor-shared-bottom-0">
            <a:extLst xmlns:a="http://schemas.openxmlformats.org/drawingml/2006/main">
              <a:ext uri="{FF2B5EF4-FFF2-40B4-BE49-F238E27FC236}">
                <a16:creationId xmlns:a16="http://schemas.microsoft.com/office/drawing/2014/main" id="{1288EB1A-21C3-4A76-A296-DB75A95D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5765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anchor-shared-bottom-1">
            <a:extLst xmlns:a="http://schemas.openxmlformats.org/drawingml/2006/main">
              <a:ext uri="{FF2B5EF4-FFF2-40B4-BE49-F238E27FC236}">
                <a16:creationId xmlns:a16="http://schemas.microsoft.com/office/drawing/2014/main" id="{40FCD767-CB25-46EA-8512-55D68CDA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5765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anchor-shared-bottom-2">
            <a:extLst xmlns:a="http://schemas.openxmlformats.org/drawingml/2006/main">
              <a:ext uri="{FF2B5EF4-FFF2-40B4-BE49-F238E27FC236}">
                <a16:creationId xmlns:a16="http://schemas.microsoft.com/office/drawing/2014/main" id="{0CD352B9-D4F1-4B6C-90CD-D1B7D93C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57650"/>
            <a:ext cx="381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1" name=""/>
          <p:cNvCxnSpPr>
            <a:stCxn xmlns:a="http://schemas.openxmlformats.org/drawingml/2006/main" id="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314450" y="27908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CDC4"/>
            </a:solidFill>
            <a:prstDash val="solid"/>
          </a:ln>
        </p:spPr>
      </p:cxnSp>
      <p:cxnSp>
        <p:nvCxnSpPr>
          <p:cNvPr id="82" name=""/>
          <p:cNvCxnSpPr>
            <a:stCxn xmlns:a="http://schemas.openxmlformats.org/drawingml/2006/main" id="4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819400" y="27908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CDC4"/>
            </a:solidFill>
            <a:prstDash val="solid"/>
          </a:ln>
        </p:spPr>
      </p:cxnSp>
      <p:cxnSp>
        <p:nvCxnSpPr>
          <p:cNvPr id="83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324350" y="27908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CDC4"/>
            </a:solidFill>
            <a:prstDash val="solid"/>
          </a:ln>
        </p:spPr>
      </p:cxnSp>
      <p:cxnSp>
        <p:nvCxnSpPr>
          <p:cNvPr id="84" name=""/>
          <p:cNvCxnSpPr>
            <a:stCxn xmlns:a="http://schemas.openxmlformats.org/drawingml/2006/main" id="6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829300" y="27908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CDC4"/>
            </a:solidFill>
            <a:prstDash val="solid"/>
          </a:ln>
        </p:spPr>
      </p:cxnSp>
      <p:cxnSp>
        <p:nvCxnSpPr>
          <p:cNvPr id="85" name=""/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334250" y="27908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CDC4"/>
            </a:solidFill>
            <a:prstDash val="solid"/>
          </a:ln>
        </p:spPr>
      </p:cxnSp>
      <p:cxnSp>
        <p:nvCxnSpPr>
          <p:cNvPr id="86" name=""/>
          <p:cNvCxnSpPr>
            <a:stCxn xmlns:a="http://schemas.openxmlformats.org/drawingml/2006/main" id="8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8839200" y="27908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CDC4"/>
            </a:solidFill>
            <a:prstDash val="solid"/>
          </a:ln>
        </p:spPr>
      </p:cxnSp>
      <p:cxnSp>
        <p:nvCxnSpPr>
          <p:cNvPr id="87" name=""/>
          <p:cNvCxnSpPr>
            <a:stCxn xmlns:a="http://schemas.openxmlformats.org/drawingml/2006/main" id="9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0344150" y="27908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CDC4"/>
            </a:solidFill>
            <a:prstDash val="solid"/>
          </a:ln>
        </p:spPr>
      </p:cxnSp>
      <p:cxnSp>
        <p:nvCxnSpPr>
          <p:cNvPr id="88" name=""/>
          <p:cNvCxnSpPr>
            <a:stCxn xmlns:a="http://schemas.openxmlformats.org/drawingml/2006/main" id="20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667000" y="40957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6D5E"/>
            </a:solidFill>
            <a:prstDash val="solid"/>
            <a:tailEnd type="arrow" w="sm" len="sm"/>
          </a:ln>
        </p:spPr>
      </p:cxnSp>
      <p:cxnSp>
        <p:nvCxnSpPr>
          <p:cNvPr id="89" name=""/>
          <p:cNvCxnSpPr>
            <a:stCxn xmlns:a="http://schemas.openxmlformats.org/drawingml/2006/main" id="21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6000" y="40957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6D5E"/>
            </a:solidFill>
            <a:prstDash val="solid"/>
            <a:tailEnd type="arrow" w="sm" len="sm"/>
          </a:ln>
        </p:spPr>
      </p:cxnSp>
      <p:cxnSp>
        <p:nvCxnSpPr>
          <p:cNvPr id="90" name=""/>
          <p:cNvCxnSpPr>
            <a:stCxn xmlns:a="http://schemas.openxmlformats.org/drawingml/2006/main" id="22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525000" y="4095750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6D5E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B20477-6A9B-4FB8-A03D-D87A6F0D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이용 창구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58A3EF-E6F3-424D-8489-8AFC8F48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257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E8091A-B754-4A67-B13A-111A6047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도우미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23D9BF-72EA-4C88-97DC-3DA9A0D2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38375"/>
            <a:ext cx="1257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298E88-5E90-4F4A-8BA1-9A059FD8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3717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Mobile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A098E7-8CD1-4425-9557-7635FD22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38375"/>
            <a:ext cx="1257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D47978-1624-45E9-83B3-5C33B3C7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717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Watch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F83242-A503-43DF-86F5-290B8938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38375"/>
            <a:ext cx="1257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7F04D5-1CB4-45BE-A031-DBCDE1BA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717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Kiosk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35E766-509F-40F8-A259-2C8B5F71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1257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51E585-21E0-482B-841C-4212B805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717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Companion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DDC8F3-8645-4517-ACB3-F5719DFE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1257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DA0BFE-C886-4F69-B324-6ED88703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717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사람 지원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712316-7E2C-464E-ABC4-F7D3C331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38375"/>
            <a:ext cx="12573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880072C-3FDB-4A6E-A6CF-C4BC68A4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717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기관 채널</a:t>
            </a:r>
          </a:p>
        </p:txBody>
      </p:sp>
      <p:sp>
        <p:nvSpPr>
          <p:cNvPr id="48" name="shared-request-state">
            <a:extLst xmlns:a="http://schemas.openxmlformats.org/drawingml/2006/main">
              <a:ext uri="{FF2B5EF4-FFF2-40B4-BE49-F238E27FC236}">
                <a16:creationId xmlns:a16="http://schemas.microsoft.com/office/drawing/2014/main" id="{D1D043AE-189F-479C-8E40-04D8850C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314700"/>
            <a:ext cx="8267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ECD248-98D4-440E-B14C-782AC01E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86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공유 요청 상태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CF4238-3772-480C-967F-A24A1282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86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맥락   ·   승인   ·   진행   ·   결과 증명   ·   책임 경계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8F9DE95-9D2F-4F2A-8E98-B9BCD8CB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실행·지원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582A99-9CD0-4B87-AB9D-F224BD78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05DB51B-BFB9-4140-A940-572FCE94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387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보안 실행 공간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4FE300-99A6-4824-BFA9-BAEB84C0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05375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0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BEC735-ADD3-4F8B-82E9-CEF671D2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387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공식 서비스·API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E0F931-DC84-4B8E-8A68-8388143C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05375"/>
            <a:ext cx="209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E0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ACB5C99-B0D4-4DFB-A360-AE297D3B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387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사람 도움 네트워크</a:t>
            </a:r>
          </a:p>
        </p:txBody>
      </p:sp>
      <p:sp>
        <p:nvSpPr>
          <p:cNvPr id="58" name="footer">
            <a:extLst xmlns:a="http://schemas.openxmlformats.org/drawingml/2006/main">
              <a:ext uri="{FF2B5EF4-FFF2-40B4-BE49-F238E27FC236}">
                <a16:creationId xmlns:a16="http://schemas.microsoft.com/office/drawing/2014/main" id="{8DA74A4E-FA0A-44EA-B331-6EE9CEB1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06</a:t>
            </a:r>
          </a:p>
        </p:txBody>
      </p:sp>
    </p:spTree>
    <p:extLst>
      <p:ext uri="{BB962C8B-B14F-4D97-AF65-F5344CB8AC3E}">
        <p14:creationId xmlns:p14="http://schemas.microsoft.com/office/powerpoint/2010/main" val="175787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eyebrow">
            <a:extLst xmlns:a="http://schemas.openxmlformats.org/drawingml/2006/main">
              <a:ext uri="{FF2B5EF4-FFF2-40B4-BE49-F238E27FC236}">
                <a16:creationId xmlns:a16="http://schemas.microsoft.com/office/drawing/2014/main" id="{7F815ADB-DDEE-4737-9B4B-0932343B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안전한 실행 원칙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D0A78B-2C6F-45CC-8AA1-AB7370E2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자동으로 움직이되, 사용자를 대신 결정하지 않습니다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A6E67-14AF-4D73-8052-A62AF2E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비용·결제·계약·민감정보 전송은 반드시 이해 가능한 방식으로 다시 확인합니다.</a:t>
            </a:r>
          </a:p>
        </p:txBody>
      </p:sp>
      <p:sp>
        <p:nvSpPr>
          <p:cNvPr id="4" name="anchor-life-0">
            <a:extLst xmlns:a="http://schemas.openxmlformats.org/drawingml/2006/main">
              <a:ext uri="{FF2B5EF4-FFF2-40B4-BE49-F238E27FC236}">
                <a16:creationId xmlns:a16="http://schemas.microsoft.com/office/drawing/2014/main" id="{5FC7C5FD-F949-49F2-8E39-FDDF4BC6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life-1">
            <a:extLst xmlns:a="http://schemas.openxmlformats.org/drawingml/2006/main">
              <a:ext uri="{FF2B5EF4-FFF2-40B4-BE49-F238E27FC236}">
                <a16:creationId xmlns:a16="http://schemas.microsoft.com/office/drawing/2014/main" id="{CCA41C5C-7B21-408B-886A-77D572F3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life-2">
            <a:extLst xmlns:a="http://schemas.openxmlformats.org/drawingml/2006/main">
              <a:ext uri="{FF2B5EF4-FFF2-40B4-BE49-F238E27FC236}">
                <a16:creationId xmlns:a16="http://schemas.microsoft.com/office/drawing/2014/main" id="{EA99279E-D2A9-4B8E-9106-67C9AC9B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480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life-3">
            <a:extLst xmlns:a="http://schemas.openxmlformats.org/drawingml/2006/main">
              <a:ext uri="{FF2B5EF4-FFF2-40B4-BE49-F238E27FC236}">
                <a16:creationId xmlns:a16="http://schemas.microsoft.com/office/drawing/2014/main" id="{24DED228-3C02-4248-A262-B3398AF5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life-4">
            <a:extLst xmlns:a="http://schemas.openxmlformats.org/drawingml/2006/main">
              <a:ext uri="{FF2B5EF4-FFF2-40B4-BE49-F238E27FC236}">
                <a16:creationId xmlns:a16="http://schemas.microsoft.com/office/drawing/2014/main" id="{0E60C484-D929-43C4-A440-F0D7F5E5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nchor-life-5">
            <a:extLst xmlns:a="http://schemas.openxmlformats.org/drawingml/2006/main">
              <a:ext uri="{FF2B5EF4-FFF2-40B4-BE49-F238E27FC236}">
                <a16:creationId xmlns:a16="http://schemas.microsoft.com/office/drawing/2014/main" id="{99FE89E5-ED4E-4F86-A540-EF269A2D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anchor-life-6">
            <a:extLst xmlns:a="http://schemas.openxmlformats.org/drawingml/2006/main">
              <a:ext uri="{FF2B5EF4-FFF2-40B4-BE49-F238E27FC236}">
                <a16:creationId xmlns:a16="http://schemas.microsoft.com/office/drawing/2014/main" id="{4D1406B0-2654-469B-A303-4998B667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48000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828800" y="3448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86150" y="3448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143500" y="3448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5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800850" y="3448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58200" y="3448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5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0115550" y="344805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514E46-E24E-4898-80BF-CF2360E5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3144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8BDA23-9687-401B-BA9E-9E294F32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요청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B044C-535A-4B49-804E-AA27BC21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48000"/>
            <a:ext cx="13144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BDB6C9-61E0-4683-8292-A9983CEF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계획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4DE162-AF95-4595-8DF8-3D95B22B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48000"/>
            <a:ext cx="13144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81AC75-D006-48F1-8518-09BA7B0A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선택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D3B01-010E-48C7-BE2C-8B39EC7C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13144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26FBEC-DDC9-416E-82AD-CEC6BB5C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승인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852EA7-34E9-47D8-AE83-2195F630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48000"/>
            <a:ext cx="13144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803526-0F20-413F-AED6-654059CE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실행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750BB-963E-44C0-B2A4-A4801905B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48000"/>
            <a:ext cx="13144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1267F0-FD88-4C22-933D-6CC1654D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3C7954-2720-4829-BC21-7B5C487D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48000"/>
            <a:ext cx="13144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B388C6-118A-4EE1-A2E4-F85ED091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18135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복구·인계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A65FF7-165E-4BD0-B489-26C58DCA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5765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4A8124-82C0-48CB-BE77-71323385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333875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사용자 통제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F44C3C-90F4-4C18-829E-78E5A824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05765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A565AC-B470-421C-94F6-F582F88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333875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결과 증명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DA405E-6089-43CA-8476-F1DC1FD5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05765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0C56BD-EE51-4FDF-B2C3-48C73E9F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333875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실패 공개·인계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D658C1-FBFB-4288-B436-B28016C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실패를 숨기지 않고 다시 시도 · 다른 채널 · 사람 연결을 선택하게 합니다.</a:t>
            </a:r>
          </a:p>
        </p:txBody>
      </p:sp>
      <p:sp>
        <p:nvSpPr>
          <p:cNvPr id="38" name="footer">
            <a:extLst xmlns:a="http://schemas.openxmlformats.org/drawingml/2006/main">
              <a:ext uri="{FF2B5EF4-FFF2-40B4-BE49-F238E27FC236}">
                <a16:creationId xmlns:a16="http://schemas.microsoft.com/office/drawing/2014/main" id="{FCD2AA2C-F756-42AF-B85F-EBF9FBFD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IROA.AI  ·  07</a:t>
            </a:r>
          </a:p>
        </p:txBody>
      </p:sp>
    </p:spTree>
    <p:extLst>
      <p:ext uri="{BB962C8B-B14F-4D97-AF65-F5344CB8AC3E}">
        <p14:creationId xmlns:p14="http://schemas.microsoft.com/office/powerpoint/2010/main" val="766220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eyebrow">
            <a:extLst xmlns:a="http://schemas.openxmlformats.org/drawingml/2006/main">
              <a:ext uri="{FF2B5EF4-FFF2-40B4-BE49-F238E27FC236}">
                <a16:creationId xmlns:a16="http://schemas.microsoft.com/office/drawing/2014/main" id="{FE009A39-8EAE-4242-81E6-7FCEAC97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보안 실행 공간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2041C5-DD4B-43F7-8F96-209B03CE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오래 걸리는 요청은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격리된 실행 공간에서 계속됩니다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6AA04-AD3B-45A2-A4C2-3F941EF7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기기를 꺼도 작업은 계속되지만, 권한과 데이터는 요청 범위 밖으로 나가지 않습니다.</a:t>
            </a:r>
          </a:p>
        </p:txBody>
      </p:sp>
      <p:sp>
        <p:nvSpPr>
          <p:cNvPr id="4" name="anchor-secure-request">
            <a:extLst xmlns:a="http://schemas.openxmlformats.org/drawingml/2006/main">
              <a:ext uri="{FF2B5EF4-FFF2-40B4-BE49-F238E27FC236}">
                <a16:creationId xmlns:a16="http://schemas.microsoft.com/office/drawing/2014/main" id="{6F0F94A0-EBF6-4D32-B544-51BB7A36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secure-space">
            <a:extLst xmlns:a="http://schemas.openxmlformats.org/drawingml/2006/main">
              <a:ext uri="{FF2B5EF4-FFF2-40B4-BE49-F238E27FC236}">
                <a16:creationId xmlns:a16="http://schemas.microsoft.com/office/drawing/2014/main" id="{D351F256-EE45-4C85-933A-3A755E55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6286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secure-result">
            <a:extLst xmlns:a="http://schemas.openxmlformats.org/drawingml/2006/main">
              <a:ext uri="{FF2B5EF4-FFF2-40B4-BE49-F238E27FC236}">
                <a16:creationId xmlns:a16="http://schemas.microsoft.com/office/drawing/2014/main" id="{43D2F680-8E51-466B-A45C-F96CBAD2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337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09800" y="3724275"/>
            <a:ext cx="74295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06D5E"/>
            </a:solidFill>
            <a:prstDash val="solid"/>
            <a:tailEnd type="arrow" w="sm" len="sm"/>
          </a:ln>
        </p:spPr>
      </p:cxnSp>
      <p:cxnSp>
        <p:nvCxnSpPr>
          <p:cNvPr id="3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9239250" y="3724275"/>
            <a:ext cx="74295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B83"/>
            </a:solidFill>
            <a:prstDash val="solid"/>
            <a:tailEnd type="arrow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C06F0-247C-41F3-809D-5CAAA5C6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57CA8-EDA0-405D-8DC5-2E9CB74D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요청·승인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ECD54-7C60-4893-98A8-F05021E7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6286500" cy="2857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C5E9F-F54E-4734-BE89-B4C88049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보안 실행 공간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2EACCC-EE6A-4BE8-BACF-22B6EC59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83C26-B42E-4FBA-B1A4-4ADBDA97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90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요청별 격리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9D30C3-7F93-4C27-8384-38BB4BEB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04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다른 사용자의 작업·권한과 분리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BE393-361B-4B4B-8A17-E8F58DC8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481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412A2-718A-4EBE-85B5-07E333DB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48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일회성 권한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8B5E4-FF65-4919-8AD0-D83D04D9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필요한 범위와 시간만 허용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5F429A-A9DA-4D99-86DA-3EE4F930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053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AE1D36-C227-4394-8364-F2F7E40C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305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공식 연결 우선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547C4-17BA-4983-AF19-B4CC775E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148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API·표준 연동을 먼저 사용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DA77C9-3126-473C-B230-6A23AE8A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B80F92-49DE-42A5-ACF7-589BFCA8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62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결과·삭제 증명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66771-D8CA-43A4-94C4-404D34E1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720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완료·실패·정리 상태를 남김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2633AF-A1B4-4AC0-986E-B4EBDC0A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33750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C4865C-C5D2-4DB0-A5FA-48555DC0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467100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결과·증거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권한 회수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EE27B4-C00A-42CA-BBBC-13741DFC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81025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계속 실행되는 것은 작업이며, 계속 보유되는 것은 아닙니다.</a:t>
            </a:r>
          </a:p>
        </p:txBody>
      </p:sp>
      <p:sp>
        <p:nvSpPr>
          <p:cNvPr id="28" name="footer">
            <a:extLst xmlns:a="http://schemas.openxmlformats.org/drawingml/2006/main">
              <a:ext uri="{FF2B5EF4-FFF2-40B4-BE49-F238E27FC236}">
                <a16:creationId xmlns:a16="http://schemas.microsoft.com/office/drawing/2014/main" id="{04D65D20-7EFC-4653-8F34-964CAA78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08</a:t>
            </a:r>
          </a:p>
        </p:txBody>
      </p:sp>
    </p:spTree>
    <p:extLst>
      <p:ext uri="{BB962C8B-B14F-4D97-AF65-F5344CB8AC3E}">
        <p14:creationId xmlns:p14="http://schemas.microsoft.com/office/powerpoint/2010/main" val="191768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101A38F9-F09E-4C02-BDAD-740196EA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선택 가능한 도움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84DEF1-F8D9-4921-91ED-F68D5A8C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기술이 막히면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사용자가 선택한 사람이 이어받습니다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6FA08-9413-4452-92D1-8429258B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반려 AI와 로봇은 사람을 대체하지 않고, 적절한 사람에게 상황을 요약해 연결합니다.</a:t>
            </a:r>
          </a:p>
        </p:txBody>
      </p:sp>
      <p:sp>
        <p:nvSpPr>
          <p:cNvPr id="4" name="anchor-handoff-0">
            <a:extLst xmlns:a="http://schemas.openxmlformats.org/drawingml/2006/main">
              <a:ext uri="{FF2B5EF4-FFF2-40B4-BE49-F238E27FC236}">
                <a16:creationId xmlns:a16="http://schemas.microsoft.com/office/drawing/2014/main" id="{0BF297BF-43F5-4C51-B09A-6DBB37AA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676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handoff-1">
            <a:extLst xmlns:a="http://schemas.openxmlformats.org/drawingml/2006/main">
              <a:ext uri="{FF2B5EF4-FFF2-40B4-BE49-F238E27FC236}">
                <a16:creationId xmlns:a16="http://schemas.microsoft.com/office/drawing/2014/main" id="{276E87A2-7237-4F05-98B7-52E52D86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33750"/>
            <a:ext cx="1676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handoff-2">
            <a:extLst xmlns:a="http://schemas.openxmlformats.org/drawingml/2006/main">
              <a:ext uri="{FF2B5EF4-FFF2-40B4-BE49-F238E27FC236}">
                <a16:creationId xmlns:a16="http://schemas.microsoft.com/office/drawing/2014/main" id="{29C78754-C967-4CDA-9E58-6009818F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676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handoff-3">
            <a:extLst xmlns:a="http://schemas.openxmlformats.org/drawingml/2006/main">
              <a:ext uri="{FF2B5EF4-FFF2-40B4-BE49-F238E27FC236}">
                <a16:creationId xmlns:a16="http://schemas.microsoft.com/office/drawing/2014/main" id="{71C90710-5F3A-46C3-B05F-DFCA4C00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1676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handoff-4">
            <a:extLst xmlns:a="http://schemas.openxmlformats.org/drawingml/2006/main">
              <a:ext uri="{FF2B5EF4-FFF2-40B4-BE49-F238E27FC236}">
                <a16:creationId xmlns:a16="http://schemas.microsoft.com/office/drawing/2014/main" id="{7618711E-3D76-40EB-B679-90CDA453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1676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62200" y="37814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495800" y="37814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6D5E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629400" y="37814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6D5E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37814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6D5E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67727A-C841-4769-8786-F0DF707B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6764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65B79-CA7E-4657-B7F9-9F3FECFC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AI 도우미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기본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52E4B-AB55-424C-B074-7100CEE5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333750"/>
            <a:ext cx="16764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DB422-15B1-4E5A-B413-AB78440E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671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다른 채널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재시도·우회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997D4-1F7F-438F-88EE-8BAB8944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6764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E7CD3C-9FFD-4A3E-A033-9F58FDE6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671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신뢰한 사람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가족·보호자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5D083-422A-457E-92C6-13103B87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16764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9B117-0CB8-4E01-AFEF-D12FF231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671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기관·현장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직원·지원사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3ED07-1F84-4C39-BC2A-1E9975C6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16764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F5C75-A34A-4E0D-9E48-AA6701CB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67100"/>
            <a:ext cx="1485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긴급 경로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사용자 설정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4E21A-204E-4521-8406-63D2EDE1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575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자동 실행 실패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ABC7F-6668-44AE-A505-A8D57D76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575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사용자 요청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40A1D7-520D-4332-B92D-AC36B8F1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현장 판단 필요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B2432C-799E-4F63-9C46-77066AFA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129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위험 조건 감지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2FA178-BF5F-4222-8F06-EB04F61A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53000"/>
            <a:ext cx="8610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8107ED-7EA1-4A6D-A327-31178D5F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2445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인계되는 정보  ·  요청 요약   |   지금까지의 시도   |   필요한 다음 행동   |   사용자 동의 범위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BB8CC9A7-0E22-47CA-9919-05348A35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09</a:t>
            </a:r>
          </a:p>
        </p:txBody>
      </p:sp>
    </p:spTree>
    <p:extLst>
      <p:ext uri="{BB962C8B-B14F-4D97-AF65-F5344CB8AC3E}">
        <p14:creationId xmlns:p14="http://schemas.microsoft.com/office/powerpoint/2010/main" val="5745397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">
            <a:extLst xmlns:a="http://schemas.openxmlformats.org/drawingml/2006/main">
              <a:ext uri="{FF2B5EF4-FFF2-40B4-BE49-F238E27FC236}">
                <a16:creationId xmlns:a16="http://schemas.microsoft.com/office/drawing/2014/main" id="{4E6DB5D0-1EB6-46B8-BD23-55A70F6B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사용자 권리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CCFFE7-EF0A-4767-B697-6B35BE72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개인정보 대신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필요한 권한만 잠시 연결합니다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F40D5B-AC1F-4BDC-B516-23094445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요청과 무관한 전체 정보를 모으지 않고, 작업이 끝나면 권한과 실행 공간을 정리합니다.</a:t>
            </a:r>
          </a:p>
        </p:txBody>
      </p:sp>
      <p:sp>
        <p:nvSpPr>
          <p:cNvPr id="4" name="anchor-rights-0">
            <a:extLst xmlns:a="http://schemas.openxmlformats.org/drawingml/2006/main">
              <a:ext uri="{FF2B5EF4-FFF2-40B4-BE49-F238E27FC236}">
                <a16:creationId xmlns:a16="http://schemas.microsoft.com/office/drawing/2014/main" id="{CBD6E33D-7C17-44B3-86A6-D4303B0F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rights-1">
            <a:extLst xmlns:a="http://schemas.openxmlformats.org/drawingml/2006/main">
              <a:ext uri="{FF2B5EF4-FFF2-40B4-BE49-F238E27FC236}">
                <a16:creationId xmlns:a16="http://schemas.microsoft.com/office/drawing/2014/main" id="{EFD52639-F5A4-4230-B88E-9F781C5E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rights-2">
            <a:extLst xmlns:a="http://schemas.openxmlformats.org/drawingml/2006/main">
              <a:ext uri="{FF2B5EF4-FFF2-40B4-BE49-F238E27FC236}">
                <a16:creationId xmlns:a16="http://schemas.microsoft.com/office/drawing/2014/main" id="{4ABBD57B-7FDD-427A-9A43-7AA38657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rights-3">
            <a:extLst xmlns:a="http://schemas.openxmlformats.org/drawingml/2006/main">
              <a:ext uri="{FF2B5EF4-FFF2-40B4-BE49-F238E27FC236}">
                <a16:creationId xmlns:a16="http://schemas.microsoft.com/office/drawing/2014/main" id="{19B48CF2-B57F-440C-BEFB-FEB82C42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38500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86100" y="37719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905500" y="37719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24900" y="37719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83CDC4"/>
            </a:solidFill>
            <a:prstDash val="solid"/>
            <a:tailEnd type="arrow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F4459-55FE-4511-8F5D-7AF8F39A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DC1FEC-54C1-43E8-B5ED-15878531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076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   최소 수집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요청에 필요한 정보만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F1663-65CE-48B3-8839-083BF371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385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50D2F8-09E1-4E8D-89BA-5AC68486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2076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02   임시 사용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필요한 시간과 공간에서만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E1F44-C95B-4C24-9386-A2BA4724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385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B40A3-B3E5-4B3E-920C-50A703A0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2076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03   결과 증명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완료·실패·인계 상태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601CBB-5076-4A70-AC3F-B1DD7C23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38500"/>
            <a:ext cx="22669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101AE7-E1FB-4819-90EE-A112EF38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71850"/>
            <a:ext cx="2076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   회수·삭제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권한 종료와 복구 경로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B82FE-885D-45BD-8B69-9C8A6199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06D5E"/>
            </a:solidFill>
            <a:prstDash val="dash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EDBA6-30EB-463D-ACB4-A71CB51F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언제든 멈춤  ·  설명 요청  ·  취소  ·  삭제  ·  복구</a:t>
            </a:r>
          </a:p>
        </p:txBody>
      </p:sp>
      <p:sp>
        <p:nvSpPr>
          <p:cNvPr id="21" name="footer">
            <a:extLst xmlns:a="http://schemas.openxmlformats.org/drawingml/2006/main">
              <a:ext uri="{FF2B5EF4-FFF2-40B4-BE49-F238E27FC236}">
                <a16:creationId xmlns:a16="http://schemas.microsoft.com/office/drawing/2014/main" id="{B510F133-9F93-4CCD-85E1-0AC5FF33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IROA.AI  ·  10</a:t>
            </a:r>
          </a:p>
        </p:txBody>
      </p:sp>
    </p:spTree>
    <p:extLst>
      <p:ext uri="{BB962C8B-B14F-4D97-AF65-F5344CB8AC3E}">
        <p14:creationId xmlns:p14="http://schemas.microsoft.com/office/powerpoint/2010/main" val="5968586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EDA75E1E-D97F-4EEC-883C-B30E8CAE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함께 만드는 가치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8B89A6-E93D-4F8D-BA1D-9022B63C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접근성은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모든 참여자의 운영 성과로 연결됩니다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BD782-F730-4687-B6C4-AAEAC15C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완료를 증명하는 하나의 요청 상태가 사용자 경험과 현장 운영을 함께 개선합니다.</a:t>
            </a:r>
          </a:p>
        </p:txBody>
      </p:sp>
      <p:sp>
        <p:nvSpPr>
          <p:cNvPr id="4" name="anchor-value-center">
            <a:extLst xmlns:a="http://schemas.openxmlformats.org/drawingml/2006/main">
              <a:ext uri="{FF2B5EF4-FFF2-40B4-BE49-F238E27FC236}">
                <a16:creationId xmlns:a16="http://schemas.microsoft.com/office/drawing/2014/main" id="{1E5F5FEA-A0C8-457F-B3EB-A323B6C6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value-0">
            <a:extLst xmlns:a="http://schemas.openxmlformats.org/drawingml/2006/main">
              <a:ext uri="{FF2B5EF4-FFF2-40B4-BE49-F238E27FC236}">
                <a16:creationId xmlns:a16="http://schemas.microsoft.com/office/drawing/2014/main" id="{ECAC1F5C-F82D-41A0-BD98-A4DFFE5E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value-1">
            <a:extLst xmlns:a="http://schemas.openxmlformats.org/drawingml/2006/main">
              <a:ext uri="{FF2B5EF4-FFF2-40B4-BE49-F238E27FC236}">
                <a16:creationId xmlns:a16="http://schemas.microsoft.com/office/drawing/2014/main" id="{E901C080-EF70-41FE-9A33-4EC696AA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value-2">
            <a:extLst xmlns:a="http://schemas.openxmlformats.org/drawingml/2006/main">
              <a:ext uri="{FF2B5EF4-FFF2-40B4-BE49-F238E27FC236}">
                <a16:creationId xmlns:a16="http://schemas.microsoft.com/office/drawing/2014/main" id="{631E91CF-CD46-4AE4-A352-988369C6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2387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value-3">
            <a:extLst xmlns:a="http://schemas.openxmlformats.org/drawingml/2006/main">
              <a:ext uri="{FF2B5EF4-FFF2-40B4-BE49-F238E27FC236}">
                <a16:creationId xmlns:a16="http://schemas.microsoft.com/office/drawing/2014/main" id="{9B553BD1-9882-4D38-AC66-78B1F909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219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nchor-value-4">
            <a:extLst xmlns:a="http://schemas.openxmlformats.org/drawingml/2006/main">
              <a:ext uri="{FF2B5EF4-FFF2-40B4-BE49-F238E27FC236}">
                <a16:creationId xmlns:a16="http://schemas.microsoft.com/office/drawing/2014/main" id="{90F1EA35-7497-46F4-8CFF-75FD8375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590800" y="3248025"/>
            <a:ext cx="245745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6D5E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38" name=""/>
          <p:cNvCxnSpPr>
            <a:stCxn xmlns:a="http://schemas.openxmlformats.org/drawingml/2006/main" id="4" idx="1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3190875" y="3857625"/>
            <a:ext cx="185737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B83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466725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B83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143750" y="3857625"/>
            <a:ext cx="185737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B83"/>
            </a:solidFill>
            <a:prstDash val="solid"/>
            <a:headEnd type="arrow" w="sm" len="sm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143750" y="3248025"/>
            <a:ext cx="245745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6D5E"/>
            </a:solidFill>
            <a:prstDash val="solid"/>
            <a:headEnd type="arrow" w="sm" len="sm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5CD0D-9BB3-4B76-82BB-E5882DA5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48000"/>
            <a:ext cx="209550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15EFD-396D-4CD0-B518-1448C0BA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48050"/>
            <a:ext cx="171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완료를 증명하는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하나의 요청 상태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D1AA2-2717-42CD-AA78-16F958F9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731A30-7310-41E6-AB8A-1733634A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자립·선택권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253D80-7819-4841-B292-F6D5C6DC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C1A04D-5936-4394-9A8A-F6046268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816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기관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반복업무·인계 개선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F80047-FE56-4932-96C3-84814269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2387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ECE1C-19AF-4333-BFFB-DCC12725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372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실행 공간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품질 기반 운영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58CEB-57E9-4725-8D96-7E3CBB1E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2190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C62D4D-67AF-4B94-83C6-CD951487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816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완료율·직원 부담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D77E8E-D612-4D9A-9E0C-74FBB3A5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190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D727F5-95B9-478D-88AE-CA0172C6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908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도움 제공자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안전한 요청·기여 인정</a:t>
            </a:r>
          </a:p>
        </p:txBody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A0888601-2B8D-4FC3-BC06-86112697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11</a:t>
            </a:r>
          </a:p>
        </p:txBody>
      </p:sp>
    </p:spTree>
    <p:extLst>
      <p:ext uri="{BB962C8B-B14F-4D97-AF65-F5344CB8AC3E}">
        <p14:creationId xmlns:p14="http://schemas.microsoft.com/office/powerpoint/2010/main" val="540211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5AEB3895-8DCB-423C-9E46-8231B6E8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사업 모델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ADAB54-2DC0-4F85-9852-9E6CA879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여러 수익원이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생활 지원망의 지속성을 만듭니다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06DC2-087D-43DA-BAAF-8B6E3ECD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취약계층 서비스를 개인 이용료 하나에 의존하지 않습니다.</a:t>
            </a:r>
          </a:p>
        </p:txBody>
      </p:sp>
      <p:sp>
        <p:nvSpPr>
          <p:cNvPr id="4" name="anchor-revenue-0">
            <a:extLst xmlns:a="http://schemas.openxmlformats.org/drawingml/2006/main">
              <a:ext uri="{FF2B5EF4-FFF2-40B4-BE49-F238E27FC236}">
                <a16:creationId xmlns:a16="http://schemas.microsoft.com/office/drawing/2014/main" id="{0423B212-48E8-4C8F-A152-EC29CFA4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revenue-1">
            <a:extLst xmlns:a="http://schemas.openxmlformats.org/drawingml/2006/main">
              <a:ext uri="{FF2B5EF4-FFF2-40B4-BE49-F238E27FC236}">
                <a16:creationId xmlns:a16="http://schemas.microsoft.com/office/drawing/2014/main" id="{195648D0-2B34-4BE6-BCC0-067809D8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revenue-2">
            <a:extLst xmlns:a="http://schemas.openxmlformats.org/drawingml/2006/main">
              <a:ext uri="{FF2B5EF4-FFF2-40B4-BE49-F238E27FC236}">
                <a16:creationId xmlns:a16="http://schemas.microsoft.com/office/drawing/2014/main" id="{01767C7E-B4C8-4ACE-8846-8C7CC5FE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revenue-3">
            <a:extLst xmlns:a="http://schemas.openxmlformats.org/drawingml/2006/main">
              <a:ext uri="{FF2B5EF4-FFF2-40B4-BE49-F238E27FC236}">
                <a16:creationId xmlns:a16="http://schemas.microsoft.com/office/drawing/2014/main" id="{562504CF-4161-4168-9816-E328E966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257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revenue-hub">
            <a:extLst xmlns:a="http://schemas.openxmlformats.org/drawingml/2006/main">
              <a:ext uri="{FF2B5EF4-FFF2-40B4-BE49-F238E27FC236}">
                <a16:creationId xmlns:a16="http://schemas.microsoft.com/office/drawing/2014/main" id="{E42A20E0-1B92-43B8-8CDD-26922E29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anchor-revenue-outcome">
            <a:extLst xmlns:a="http://schemas.openxmlformats.org/drawingml/2006/main">
              <a:ext uri="{FF2B5EF4-FFF2-40B4-BE49-F238E27FC236}">
                <a16:creationId xmlns:a16="http://schemas.microsoft.com/office/drawing/2014/main" id="{33BF687B-B39F-4BA0-BBE0-1CDC51BA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647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57550" y="3152775"/>
            <a:ext cx="1362075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57550" y="3895725"/>
            <a:ext cx="136207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57550" y="4191000"/>
            <a:ext cx="1362075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257550" y="4191000"/>
            <a:ext cx="1362075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CDC4"/>
            </a:solidFill>
            <a:prstDash val="solid"/>
            <a:tailEnd type="arrow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77125" y="419100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06D5E"/>
            </a:solidFill>
            <a:prstDash val="solid"/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2C8A6-E087-4654-9E13-F8CADD2A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71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78B03-4BFF-4022-975F-5D404617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기관 계약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지자체·복지기관·병원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FC1A1-B1E0-4902-8265-5464FACA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571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6CD11D-CB32-469E-BE0A-6BC6F4A1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상점 구독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실행형 키오스크·원격 운영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1A670B-DE48-4B7F-AE82-7B4E3077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571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E9247-AC4D-4624-A780-A60E6624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공공·사회공헌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현장 검증·접근 거점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886EF-5A4F-4154-BFE9-54A6EFDA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2571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41678D-C927-42E8-8531-7A0C88D6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실행 기여 보상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검증된 공간·도움·데이터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DC45E-C5E2-4152-8044-F6A9B2AF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29000"/>
            <a:ext cx="2857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B0DD4C-E771-44AA-83FA-6EDDE41B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62350"/>
            <a:ext cx="266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검증된 생활 지원망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현장 운영·안전 기준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EA8CBA-3342-4D31-A8F1-B022EAD9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0"/>
            <a:ext cx="26479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C81B3A-55BA-4AFE-88F5-EB3478B1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62350"/>
            <a:ext cx="24574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접근 거점 확대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품질·보안 재투자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48316C-EE20-492E-A619-17ECF791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7F3EA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8025C6-B8EC-4644-8ECF-9B1FC4CC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57875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생활 서비스 결제는 원화·카드·간편결제 등 기존 결제수단을 기본으로 합니다.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9220DB26-F3C5-4051-B810-E6035DA3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12</a:t>
            </a:r>
          </a:p>
        </p:txBody>
      </p:sp>
    </p:spTree>
    <p:extLst>
      <p:ext uri="{BB962C8B-B14F-4D97-AF65-F5344CB8AC3E}">
        <p14:creationId xmlns:p14="http://schemas.microsoft.com/office/powerpoint/2010/main" val="18731099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">
            <a:extLst xmlns:a="http://schemas.openxmlformats.org/drawingml/2006/main">
              <a:ext uri="{FF2B5EF4-FFF2-40B4-BE49-F238E27FC236}">
                <a16:creationId xmlns:a16="http://schemas.microsoft.com/office/drawing/2014/main" id="{F817C214-46AB-4F4F-84F6-F2064D0B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단계별 실행 계획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0B4FA7-9715-41CB-8ECB-3B6280CF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2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작게 검증하고 안전 기준을 통과하며 확장합니다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FEAEE-897F-4833-936F-1DBF6728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9222E"/>
                </a:solidFill>
                <a:latin typeface="Noto Sans KR"/>
                <a:ea typeface="Noto Sans KR"/>
                <a:cs typeface="Noto Sans KR"/>
              </a:rPr>
              <a:t>각 단계는 사용성·보안·복구·법률·현장 검증을 통과해야 다음 범위로 이동합니다.</a:t>
            </a:r>
          </a:p>
        </p:txBody>
      </p:sp>
      <p:sp>
        <p:nvSpPr>
          <p:cNvPr id="4" name="anchor-roadmap-0">
            <a:extLst xmlns:a="http://schemas.openxmlformats.org/drawingml/2006/main">
              <a:ext uri="{FF2B5EF4-FFF2-40B4-BE49-F238E27FC236}">
                <a16:creationId xmlns:a16="http://schemas.microsoft.com/office/drawing/2014/main" id="{C6AD95CC-84EC-4CC5-BA10-3F9F0B6C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roadmap-1">
            <a:extLst xmlns:a="http://schemas.openxmlformats.org/drawingml/2006/main">
              <a:ext uri="{FF2B5EF4-FFF2-40B4-BE49-F238E27FC236}">
                <a16:creationId xmlns:a16="http://schemas.microsoft.com/office/drawing/2014/main" id="{6F7F2C04-D6DD-4316-A7A7-0B73B1C0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623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roadmap-2">
            <a:extLst xmlns:a="http://schemas.openxmlformats.org/drawingml/2006/main">
              <a:ext uri="{FF2B5EF4-FFF2-40B4-BE49-F238E27FC236}">
                <a16:creationId xmlns:a16="http://schemas.microsoft.com/office/drawing/2014/main" id="{9DB108B6-B86A-43DE-8DFB-7F9BCEF3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623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roadmap-3">
            <a:extLst xmlns:a="http://schemas.openxmlformats.org/drawingml/2006/main">
              <a:ext uri="{FF2B5EF4-FFF2-40B4-BE49-F238E27FC236}">
                <a16:creationId xmlns:a16="http://schemas.microsoft.com/office/drawing/2014/main" id="{AF29930F-B01A-4A8B-9B1E-20C33B1A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623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roadmap-4">
            <a:extLst xmlns:a="http://schemas.openxmlformats.org/drawingml/2006/main">
              <a:ext uri="{FF2B5EF4-FFF2-40B4-BE49-F238E27FC236}">
                <a16:creationId xmlns:a16="http://schemas.microsoft.com/office/drawing/2014/main" id="{4D60173C-1E2F-4DA7-B078-955611CD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6230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247900" y="35909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E6E0D5"/>
            </a:solidFill>
            <a:prstDash val="solid"/>
            <a:tailEnd type="arrow" w="sm" len="sm"/>
          </a:ln>
        </p:spPr>
      </p:cxnSp>
      <p:cxnSp>
        <p:nvCxnSpPr>
          <p:cNvPr id="4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14850" y="35909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E6E0D5"/>
            </a:solidFill>
            <a:prstDash val="solid"/>
            <a:tailEnd type="arrow" w="sm" len="sm"/>
          </a:ln>
        </p:spPr>
      </p:cxn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781800" y="35909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E6E0D5"/>
            </a:solidFill>
            <a:prstDash val="solid"/>
            <a:tailEnd type="arrow" w="sm" len="sm"/>
          </a:ln>
        </p:spPr>
      </p:cxnSp>
      <p:cxnSp>
        <p:nvCxnSpPr>
          <p:cNvPr id="5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048750" y="35909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E6E0D5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AEFB0-361F-4910-8730-8E81BC09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0–3개월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C0E5E-C147-430F-9DD0-6342F592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619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87673-3297-484C-A839-E420013A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생활 요청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반려 친구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3FD6E9-13B8-4EAA-993F-5D6D69DF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6720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FE238-EB44-4A8E-8288-9C5C84DE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통과 기준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사용성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8CC58-6333-4311-BE0B-C7DE7562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90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4–6개월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3F6CE1-A901-4369-AB32-48CE0757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62300"/>
            <a:ext cx="1619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1DD8F2-5A97-4A19-B470-942DAF6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956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보안 실행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공간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68E5B-587A-4C84-A870-D40354C9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26720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27AB7-0131-40C4-9FE0-89AA37B7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52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통과 기준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보안·복구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5F3793-B8DA-4E4C-88DE-A5A59910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90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7–10개월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AAA70-E967-46C8-BE20-7CB14D5C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62300"/>
            <a:ext cx="1619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3370FC-8004-4DFA-BFD4-F957A326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956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실행형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키오스크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7B484-B003-46CF-9AFA-ACADD3DF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26720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6BDE7C-3294-4C67-BF8A-20A60F335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552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통과 기준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현장 완료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817B14-5BF6-425C-AD0A-A51BFDA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11–20개월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8793D2-49F6-44B5-B1DB-C184DFDA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62300"/>
            <a:ext cx="1619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2193E5-827E-4FC3-90F4-0569D289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956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지역사회·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병원 연계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4E883F-89B9-467C-B82F-EDA88295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6720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3568FB-13F6-4E88-A95F-B42DF24F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52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통과 기준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기관 검증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4ECD21-7F4B-44D7-B0DB-C06AE4DF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908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21개월 이후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E52781-51DD-4316-8B84-6FF8FC0C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62300"/>
            <a:ext cx="1619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02E032-5C7A-4EAA-AAA1-DC39F367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956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안전한 로봇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확장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A90940-9DCB-4CB2-81B6-F6CF60B0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26720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626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663EA2-0DA2-40A9-BC76-DA226E8E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5529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통과 기준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안전 기준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BE6513-00D5-4FD6-9BA8-D985FA7D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6263D"/>
                </a:solidFill>
                <a:latin typeface="Noto Sans KR"/>
                <a:ea typeface="Noto Sans KR"/>
                <a:cs typeface="Noto Sans KR"/>
              </a:rPr>
              <a:t>범위는 넓어져도 사용자 통제와 안전 기준은 낮아지지 않습니다.</a:t>
            </a:r>
          </a:p>
        </p:txBody>
      </p:sp>
      <p:sp>
        <p:nvSpPr>
          <p:cNvPr id="39" name="footer">
            <a:extLst xmlns:a="http://schemas.openxmlformats.org/drawingml/2006/main">
              <a:ext uri="{FF2B5EF4-FFF2-40B4-BE49-F238E27FC236}">
                <a16:creationId xmlns:a16="http://schemas.microsoft.com/office/drawing/2014/main" id="{F997569B-9F78-4424-81A2-33B1B870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3D8B83"/>
                </a:solidFill>
                <a:latin typeface="Noto Sans KR"/>
                <a:ea typeface="Noto Sans KR"/>
                <a:cs typeface="Noto Sans KR"/>
              </a:rPr>
              <a:t>IROA.AI  ·  13</a:t>
            </a:r>
          </a:p>
        </p:txBody>
      </p:sp>
    </p:spTree>
    <p:extLst>
      <p:ext uri="{BB962C8B-B14F-4D97-AF65-F5344CB8AC3E}">
        <p14:creationId xmlns:p14="http://schemas.microsoft.com/office/powerpoint/2010/main" val="19845522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26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64e7163f04838">
            <a:extLst>
              <a:ext uri="{96DAC541-7B7A-43D3-8B79-37D633B846F1}">
                <asvg:svgBlip xmlns:asvg="http://schemas.microsoft.com/office/drawing/2016/SVG/main" r:embed="Rcfc5f648e6db44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552450"/>
            <a:ext cx="1828800" cy="476250"/>
          </a:xfrm>
          <a:prstGeom xmlns:a="http://schemas.openxmlformats.org/drawingml/2006/main" prst="rect">
            <a:avLst/>
          </a:prstGeom>
        </p:spPr>
      </p:pic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5C9B65-832A-41DB-9044-14FB6D12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첫 현장은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함께 만들 수 있습니다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E9AAC-A3FC-40A7-AD8C-B76D51B6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다음 세 가지 중 하나를 선택해 실제 완료까지 공동 검증하겠습니다.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AF703-5E22-427C-92F2-42539594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28BCC-D31D-40FC-B70C-5A4AF926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EACB7-F0E0-4F57-8F84-FADE02E2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복지기관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2CDD8-2B4F-4384-8EE8-10818412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예약·이동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8E2F0-9617-4046-A30E-85CB9C50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0005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F7A0B-C784-4900-88B6-ED8D1CC0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D3EE3-672C-4447-9222-EBEC488C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소규모 매장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40F3F-6B44-4079-9281-6D0044DE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실행형 키오스크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397C5-A106-422D-9B82-3EE8B539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CD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BEBF8D-28B8-4688-A6D9-0762723D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005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4EC71-CD78-43DD-B861-2B60521F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005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병원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75C78-B6C2-4298-B835-E497EA5E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57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83CDC4"/>
                </a:solidFill>
                <a:latin typeface="Noto Sans KR"/>
                <a:ea typeface="Noto Sans KR"/>
                <a:cs typeface="Noto Sans KR"/>
              </a:rPr>
              <a:t>방문 준비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9BB2E-BFF1-463A-90E4-FC59F3A0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F06D5E"/>
                </a:solidFill>
                <a:latin typeface="Noto Sans KR"/>
                <a:ea typeface="Noto Sans KR"/>
                <a:cs typeface="Noto Sans KR"/>
              </a:rPr>
              <a:t>iroa.ai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45C35-28D1-480E-9378-5FC41686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055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하나의 현장 · 하나의 요청 · 실제 완료</a:t>
            </a:r>
          </a:p>
        </p:txBody>
      </p:sp>
    </p:spTree>
    <p:extLst>
      <p:ext uri="{BB962C8B-B14F-4D97-AF65-F5344CB8AC3E}">
        <p14:creationId xmlns:p14="http://schemas.microsoft.com/office/powerpoint/2010/main" val="1967699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2026-08-27T06:12:45.3660000Z</dcterms:created>
  <dcterms:modified xsi:type="dcterms:W3CDTF">2026-08-27T06:12:45.3660000Z</dcterms:modified>
</coreProperties>
</file>